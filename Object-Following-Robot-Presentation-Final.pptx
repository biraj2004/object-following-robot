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787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5315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5315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0" y="4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1531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51790"/>
          </a:xfrm>
          <a:custGeom>
            <a:avLst/>
            <a:gdLst/>
            <a:ahLst/>
            <a:cxnLst/>
            <a:rect l="l" t="t" r="r" b="b"/>
            <a:pathLst>
              <a:path w="5760085" h="351790">
                <a:moveTo>
                  <a:pt x="5759996" y="0"/>
                </a:moveTo>
                <a:lnTo>
                  <a:pt x="0" y="0"/>
                </a:lnTo>
                <a:lnTo>
                  <a:pt x="0" y="351790"/>
                </a:lnTo>
                <a:lnTo>
                  <a:pt x="5759996" y="351790"/>
                </a:lnTo>
                <a:lnTo>
                  <a:pt x="5759996" y="0"/>
                </a:lnTo>
                <a:close/>
              </a:path>
            </a:pathLst>
          </a:custGeom>
          <a:solidFill>
            <a:srgbClr val="1531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63700"/>
            <a:ext cx="235966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748042"/>
            <a:ext cx="2399665" cy="808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5315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3296" y="3088370"/>
            <a:ext cx="1667510" cy="141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54104" y="3088370"/>
            <a:ext cx="292735" cy="141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6B6E7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‹#›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23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1531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0" y="194417"/>
            <a:ext cx="81280" cy="3046095"/>
          </a:xfrm>
          <a:custGeom>
            <a:avLst/>
            <a:gdLst/>
            <a:ahLst/>
            <a:cxnLst/>
            <a:rect l="l" t="t" r="r" b="b"/>
            <a:pathLst>
              <a:path w="81280" h="3046095">
                <a:moveTo>
                  <a:pt x="0" y="0"/>
                </a:moveTo>
                <a:lnTo>
                  <a:pt x="0" y="3045647"/>
                </a:lnTo>
                <a:lnTo>
                  <a:pt x="80684" y="3045647"/>
                </a:lnTo>
                <a:lnTo>
                  <a:pt x="80684" y="0"/>
                </a:lnTo>
                <a:lnTo>
                  <a:pt x="0" y="0"/>
                </a:lnTo>
                <a:close/>
              </a:path>
            </a:pathLst>
          </a:custGeom>
          <a:solidFill>
            <a:srgbClr val="D792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6745" y="298444"/>
            <a:ext cx="832203" cy="8208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7301" y="298444"/>
            <a:ext cx="3739515" cy="81534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590"/>
              </a:spcBef>
            </a:pPr>
            <a:r>
              <a:rPr sz="2750" spc="135" dirty="0"/>
              <a:t>Object</a:t>
            </a:r>
            <a:r>
              <a:rPr sz="2750" spc="120" dirty="0"/>
              <a:t> </a:t>
            </a:r>
            <a:r>
              <a:rPr sz="2750" spc="125" dirty="0"/>
              <a:t>Following </a:t>
            </a:r>
            <a:r>
              <a:rPr sz="2750" spc="150" dirty="0"/>
              <a:t>Robot </a:t>
            </a:r>
            <a:r>
              <a:rPr sz="2750" spc="160" dirty="0"/>
              <a:t>using</a:t>
            </a:r>
            <a:r>
              <a:rPr sz="2750" spc="125" dirty="0"/>
              <a:t> Arduino </a:t>
            </a:r>
            <a:r>
              <a:rPr sz="2750" spc="105" dirty="0"/>
              <a:t>Uno</a:t>
            </a:r>
            <a:endParaRPr sz="2750" dirty="0"/>
          </a:p>
        </p:txBody>
      </p:sp>
      <p:sp>
        <p:nvSpPr>
          <p:cNvPr id="6" name="object 6"/>
          <p:cNvSpPr txBox="1"/>
          <p:nvPr/>
        </p:nvSpPr>
        <p:spPr>
          <a:xfrm>
            <a:off x="707301" y="1123134"/>
            <a:ext cx="4561840" cy="1788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1C462"/>
                </a:solidFill>
                <a:latin typeface="Calibri"/>
                <a:cs typeface="Calibri"/>
              </a:rPr>
              <a:t>MINI-PROJECT</a:t>
            </a:r>
            <a:r>
              <a:rPr sz="1200" spc="375" dirty="0">
                <a:solidFill>
                  <a:srgbClr val="F1C462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1C462"/>
                </a:solidFill>
                <a:latin typeface="Calibri"/>
                <a:cs typeface="Calibri"/>
              </a:rPr>
              <a:t>PRESENTATION</a:t>
            </a:r>
            <a:endParaRPr sz="1200" dirty="0">
              <a:latin typeface="Calibri"/>
              <a:cs typeface="Calibri"/>
            </a:endParaRPr>
          </a:p>
          <a:p>
            <a:pPr marL="12700" marR="1543050">
              <a:lnSpc>
                <a:spcPct val="127299"/>
              </a:lnSpc>
              <a:spcBef>
                <a:spcPts val="935"/>
              </a:spcBef>
            </a:pP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Department</a:t>
            </a:r>
            <a:r>
              <a:rPr sz="900" spc="28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of</a:t>
            </a:r>
            <a:r>
              <a:rPr sz="900" spc="28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Electronics</a:t>
            </a:r>
            <a:r>
              <a:rPr sz="900" spc="28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and</a:t>
            </a:r>
            <a:r>
              <a:rPr sz="900" spc="28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Communication</a:t>
            </a:r>
            <a:r>
              <a:rPr sz="900" spc="28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8D8D8"/>
                </a:solidFill>
                <a:latin typeface="Calibri"/>
                <a:cs typeface="Calibri"/>
              </a:rPr>
              <a:t>Engineering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 Cooch</a:t>
            </a:r>
            <a:r>
              <a:rPr sz="900" spc="27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Behar</a:t>
            </a:r>
            <a:r>
              <a:rPr sz="900" spc="27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Government</a:t>
            </a:r>
            <a:r>
              <a:rPr sz="900" spc="28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Engineering</a:t>
            </a:r>
            <a:r>
              <a:rPr sz="900" spc="275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8D8D8"/>
                </a:solidFill>
                <a:latin typeface="Calibri"/>
                <a:cs typeface="Calibri"/>
              </a:rPr>
              <a:t>College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Maulana</a:t>
            </a:r>
            <a:r>
              <a:rPr sz="900" spc="200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Abul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Kalam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Azad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University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of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8D8D8"/>
                </a:solidFill>
                <a:latin typeface="Calibri"/>
                <a:cs typeface="Calibri"/>
              </a:rPr>
              <a:t>Technology</a:t>
            </a:r>
            <a:r>
              <a:rPr sz="900" spc="204" dirty="0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8D8D8"/>
                </a:solidFill>
                <a:latin typeface="Calibri"/>
                <a:cs typeface="Calibri"/>
              </a:rPr>
              <a:t>(MAKAUT)</a:t>
            </a:r>
            <a:endParaRPr sz="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D79209"/>
                </a:solidFill>
                <a:latin typeface="Calibri"/>
                <a:cs typeface="Calibri"/>
              </a:rPr>
              <a:t>PROJECT</a:t>
            </a:r>
            <a:r>
              <a:rPr sz="900" spc="175" dirty="0">
                <a:solidFill>
                  <a:srgbClr val="D7920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D79209"/>
                </a:solidFill>
                <a:latin typeface="Calibri"/>
                <a:cs typeface="Calibri"/>
              </a:rPr>
              <a:t>MEMBERS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1343660" algn="l"/>
                <a:tab pos="2771775" algn="l"/>
              </a:tabLst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Bikkram</a:t>
            </a:r>
            <a:r>
              <a:rPr sz="8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Das</a:t>
            </a:r>
            <a:r>
              <a:rPr sz="800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(34900323012)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i="1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800" i="1" spc="2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Biraj</a:t>
            </a:r>
            <a:r>
              <a:rPr sz="8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Sarkar</a:t>
            </a:r>
            <a:r>
              <a:rPr sz="8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(34900323013)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i="1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800" i="1" spc="3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Debanjan</a:t>
            </a:r>
            <a:r>
              <a:rPr sz="8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Chakraborty</a:t>
            </a:r>
            <a:r>
              <a:rPr sz="800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(34900323015)</a:t>
            </a:r>
            <a:endParaRPr sz="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1517650" algn="l"/>
              </a:tabLst>
            </a:pPr>
            <a:r>
              <a:rPr sz="800" i="1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800" i="1" spc="3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Sayan</a:t>
            </a:r>
            <a:r>
              <a:rPr sz="8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Sarkar</a:t>
            </a:r>
            <a:r>
              <a:rPr sz="8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(34900323048)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i="1" dirty="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sz="800" i="1" spc="33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Soumyajit</a:t>
            </a:r>
            <a:r>
              <a:rPr sz="8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Pandit</a:t>
            </a:r>
            <a:r>
              <a:rPr sz="8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(34900323052)</a:t>
            </a:r>
            <a:endParaRPr sz="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900" dirty="0">
                <a:solidFill>
                  <a:srgbClr val="D79209"/>
                </a:solidFill>
                <a:latin typeface="Calibri"/>
                <a:cs typeface="Calibri"/>
              </a:rPr>
              <a:t>PROJECT</a:t>
            </a:r>
            <a:r>
              <a:rPr sz="900" spc="114" dirty="0">
                <a:solidFill>
                  <a:srgbClr val="D7920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D79209"/>
                </a:solidFill>
                <a:latin typeface="Calibri"/>
                <a:cs typeface="Calibri"/>
              </a:rPr>
              <a:t>SUPERVISOR</a:t>
            </a:r>
            <a:r>
              <a:rPr sz="900" spc="480" dirty="0">
                <a:solidFill>
                  <a:srgbClr val="D79209"/>
                </a:solidFill>
                <a:latin typeface="Calibri"/>
                <a:cs typeface="Calibri"/>
              </a:rPr>
              <a:t> 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sz="8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Gautam</a:t>
            </a:r>
            <a:r>
              <a:rPr sz="8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Das</a:t>
            </a:r>
            <a:endParaRPr sz="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2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890" y="685765"/>
            <a:ext cx="1818005" cy="198818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70180" indent="-158115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17081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Introduction</a:t>
            </a:r>
            <a:r>
              <a:rPr sz="800" spc="229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2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Overview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Motivation,</a:t>
            </a:r>
            <a:r>
              <a:rPr sz="700" spc="15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HMI</a:t>
            </a:r>
            <a:r>
              <a:rPr sz="700" spc="1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background,</a:t>
            </a:r>
            <a:r>
              <a:rPr sz="700" spc="15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sensor</a:t>
            </a:r>
            <a:r>
              <a:rPr sz="700" spc="1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envelope</a:t>
            </a:r>
            <a:endParaRPr sz="700">
              <a:latin typeface="Calibri"/>
              <a:cs typeface="Calibri"/>
            </a:endParaRPr>
          </a:p>
          <a:p>
            <a:pPr marL="177800" indent="-165735">
              <a:lnSpc>
                <a:spcPct val="100000"/>
              </a:lnSpc>
              <a:spcBef>
                <a:spcPts val="545"/>
              </a:spcBef>
              <a:buAutoNum type="arabicPeriod" startAt="2"/>
              <a:tabLst>
                <a:tab pos="17843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System</a:t>
            </a:r>
            <a:r>
              <a:rPr sz="800" spc="2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Architecture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Block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diagram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&amp;</a:t>
            </a:r>
            <a:r>
              <a:rPr sz="700" spc="17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signal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6B6E76"/>
                </a:solidFill>
                <a:latin typeface="Calibri"/>
                <a:cs typeface="Calibri"/>
              </a:rPr>
              <a:t>flow</a:t>
            </a:r>
            <a:endParaRPr sz="700">
              <a:latin typeface="Calibri"/>
              <a:cs typeface="Calibri"/>
            </a:endParaRPr>
          </a:p>
          <a:p>
            <a:pPr marL="178435" indent="-166370">
              <a:lnSpc>
                <a:spcPct val="100000"/>
              </a:lnSpc>
              <a:spcBef>
                <a:spcPts val="545"/>
              </a:spcBef>
              <a:buAutoNum type="arabicPeriod" startAt="3"/>
              <a:tabLst>
                <a:tab pos="179070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Hardware</a:t>
            </a:r>
            <a:r>
              <a:rPr sz="800" spc="15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16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Sensors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Arduino</a:t>
            </a:r>
            <a:r>
              <a:rPr sz="7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Uno,</a:t>
            </a:r>
            <a:r>
              <a:rPr sz="7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HC-SR04,</a:t>
            </a:r>
            <a:r>
              <a:rPr sz="7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IR</a:t>
            </a:r>
            <a:r>
              <a:rPr sz="7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modules</a:t>
            </a:r>
            <a:endParaRPr sz="700">
              <a:latin typeface="Calibri"/>
              <a:cs typeface="Calibri"/>
            </a:endParaRPr>
          </a:p>
          <a:p>
            <a:pPr marL="182880" indent="-170815">
              <a:lnSpc>
                <a:spcPct val="100000"/>
              </a:lnSpc>
              <a:spcBef>
                <a:spcPts val="545"/>
              </a:spcBef>
              <a:buAutoNum type="arabicPeriod" startAt="4"/>
              <a:tabLst>
                <a:tab pos="18351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Actuators</a:t>
            </a:r>
            <a:r>
              <a:rPr sz="800" spc="12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Motor</a:t>
            </a:r>
            <a:r>
              <a:rPr sz="800" spc="12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Drivers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BO</a:t>
            </a:r>
            <a:r>
              <a:rPr sz="700" spc="12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geared</a:t>
            </a:r>
            <a:r>
              <a:rPr sz="700" spc="12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motors,</a:t>
            </a:r>
            <a:r>
              <a:rPr sz="700" spc="12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L298N</a:t>
            </a:r>
            <a:r>
              <a:rPr sz="700" spc="12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H-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Bridge</a:t>
            </a:r>
            <a:endParaRPr sz="700">
              <a:latin typeface="Calibri"/>
              <a:cs typeface="Calibri"/>
            </a:endParaRPr>
          </a:p>
          <a:p>
            <a:pPr marL="179705" indent="-167640">
              <a:lnSpc>
                <a:spcPct val="100000"/>
              </a:lnSpc>
              <a:spcBef>
                <a:spcPts val="545"/>
              </a:spcBef>
              <a:buAutoNum type="arabicPeriod" startAt="5"/>
              <a:tabLst>
                <a:tab pos="180340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Power</a:t>
            </a:r>
            <a:r>
              <a:rPr sz="800" spc="16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Scheme</a:t>
            </a:r>
            <a:r>
              <a:rPr sz="800" spc="1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17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Stability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Split-rail</a:t>
            </a:r>
            <a:r>
              <a:rPr sz="700" spc="16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power,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brownout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6B6E76"/>
                </a:solidFill>
                <a:latin typeface="Calibri"/>
                <a:cs typeface="Calibri"/>
              </a:rPr>
              <a:t>fix</a:t>
            </a:r>
            <a:endParaRPr sz="700">
              <a:latin typeface="Calibri"/>
              <a:cs typeface="Calibri"/>
            </a:endParaRPr>
          </a:p>
          <a:p>
            <a:pPr marL="182245" indent="-170180">
              <a:lnSpc>
                <a:spcPct val="100000"/>
              </a:lnSpc>
              <a:spcBef>
                <a:spcPts val="545"/>
              </a:spcBef>
              <a:buAutoNum type="arabicPeriod" startAt="6"/>
              <a:tabLst>
                <a:tab pos="182880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Software</a:t>
            </a:r>
            <a:r>
              <a:rPr sz="800" spc="22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Control</a:t>
            </a:r>
            <a:r>
              <a:rPr sz="800" spc="229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Algorithm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State</a:t>
            </a:r>
            <a:r>
              <a:rPr sz="700" spc="1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machine</a:t>
            </a:r>
            <a:r>
              <a:rPr sz="700" spc="1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&amp;</a:t>
            </a:r>
            <a:r>
              <a:rPr sz="700" spc="1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decision</a:t>
            </a:r>
            <a:r>
              <a:rPr sz="700" spc="1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logic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2900" y="685765"/>
            <a:ext cx="1330325" cy="16611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62560" indent="-150495">
              <a:lnSpc>
                <a:spcPct val="100000"/>
              </a:lnSpc>
              <a:spcBef>
                <a:spcPts val="360"/>
              </a:spcBef>
              <a:buAutoNum type="arabicPeriod" startAt="7"/>
              <a:tabLst>
                <a:tab pos="16319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Firmware</a:t>
            </a:r>
            <a:r>
              <a:rPr sz="800" spc="20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Source</a:t>
            </a:r>
            <a:r>
              <a:rPr sz="800" spc="21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153156"/>
                </a:solidFill>
                <a:latin typeface="Calibri"/>
                <a:cs typeface="Calibri"/>
              </a:rPr>
              <a:t>Code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Arduino</a:t>
            </a:r>
            <a:r>
              <a:rPr sz="7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C++</a:t>
            </a:r>
            <a:r>
              <a:rPr sz="7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with</a:t>
            </a:r>
            <a:r>
              <a:rPr sz="7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NewPing</a:t>
            </a:r>
            <a:r>
              <a:rPr sz="7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library</a:t>
            </a:r>
            <a:endParaRPr sz="7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45"/>
              </a:spcBef>
              <a:buAutoNum type="arabicPeriod" startAt="8"/>
              <a:tabLst>
                <a:tab pos="185420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Calibration</a:t>
            </a:r>
            <a:r>
              <a:rPr sz="800" spc="22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2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Integration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Thresholds,</a:t>
            </a:r>
            <a:r>
              <a:rPr sz="700" spc="27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chassis</a:t>
            </a:r>
            <a:r>
              <a:rPr sz="700" spc="2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assembly</a:t>
            </a:r>
            <a:endParaRPr sz="700">
              <a:latin typeface="Calibri"/>
              <a:cs typeface="Calibri"/>
            </a:endParaRPr>
          </a:p>
          <a:p>
            <a:pPr marL="175260" indent="-163195">
              <a:lnSpc>
                <a:spcPct val="100000"/>
              </a:lnSpc>
              <a:spcBef>
                <a:spcPts val="545"/>
              </a:spcBef>
              <a:buAutoNum type="arabicPeriod" startAt="9"/>
              <a:tabLst>
                <a:tab pos="17589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Performance</a:t>
            </a:r>
            <a:r>
              <a:rPr sz="800" spc="36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Testing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Accuracy,</a:t>
            </a:r>
            <a:r>
              <a:rPr sz="700" spc="11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latency,</a:t>
            </a:r>
            <a:r>
              <a:rPr sz="7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runtime</a:t>
            </a:r>
            <a:endParaRPr sz="700">
              <a:latin typeface="Calibri"/>
              <a:cs typeface="Calibri"/>
            </a:endParaRPr>
          </a:p>
          <a:p>
            <a:pPr marL="171450" indent="-159385">
              <a:lnSpc>
                <a:spcPct val="100000"/>
              </a:lnSpc>
              <a:spcBef>
                <a:spcPts val="545"/>
              </a:spcBef>
              <a:buAutoNum type="arabicPeriod" startAt="10"/>
              <a:tabLst>
                <a:tab pos="172085" algn="l"/>
              </a:tabLst>
            </a:pP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Conclusions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Outcomes</a:t>
            </a:r>
            <a:r>
              <a:rPr sz="700" spc="16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&amp;</a:t>
            </a:r>
            <a:r>
              <a:rPr sz="700" spc="16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design</a:t>
            </a:r>
            <a:r>
              <a:rPr sz="700" spc="1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validation</a:t>
            </a:r>
            <a:endParaRPr sz="700">
              <a:latin typeface="Calibri"/>
              <a:cs typeface="Calibri"/>
            </a:endParaRPr>
          </a:p>
          <a:p>
            <a:pPr marL="158750" indent="-146685">
              <a:lnSpc>
                <a:spcPct val="100000"/>
              </a:lnSpc>
              <a:spcBef>
                <a:spcPts val="545"/>
              </a:spcBef>
              <a:buAutoNum type="arabicPeriod" startAt="11"/>
              <a:tabLst>
                <a:tab pos="159385" algn="l"/>
              </a:tabLst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Future</a:t>
            </a:r>
            <a:r>
              <a:rPr sz="8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Scope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ESP32-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CAM,</a:t>
            </a:r>
            <a:r>
              <a:rPr sz="700" spc="9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PID,</a:t>
            </a:r>
            <a:r>
              <a:rPr sz="700" spc="9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6B6E76"/>
                </a:solidFill>
                <a:latin typeface="Calibri"/>
                <a:cs typeface="Calibri"/>
              </a:rPr>
              <a:t>active</a:t>
            </a:r>
            <a:r>
              <a:rPr sz="700" spc="9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6B6E76"/>
                </a:solidFill>
                <a:latin typeface="Calibri"/>
                <a:cs typeface="Calibri"/>
              </a:rPr>
              <a:t>scanning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Introduction</a:t>
            </a:r>
            <a:r>
              <a:rPr spc="350" dirty="0"/>
              <a:t> </a:t>
            </a:r>
            <a:r>
              <a:rPr dirty="0"/>
              <a:t>&amp;</a:t>
            </a:r>
            <a:r>
              <a:rPr spc="360" dirty="0"/>
              <a:t> </a:t>
            </a:r>
            <a:r>
              <a:rPr dirty="0"/>
              <a:t>Project</a:t>
            </a:r>
            <a:r>
              <a:rPr spc="35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27939"/>
            <a:ext cx="2804795" cy="25336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Autonomous</a:t>
            </a:r>
            <a:r>
              <a:rPr sz="1000" spc="3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target</a:t>
            </a:r>
            <a:r>
              <a:rPr sz="1000" spc="34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following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Following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core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capability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Human–Machine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Interaction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(HMI)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20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enabling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40" dirty="0">
                <a:solidFill>
                  <a:srgbClr val="2B2B2B"/>
                </a:solidFill>
                <a:latin typeface="Calibri"/>
                <a:cs typeface="Calibri"/>
              </a:rPr>
              <a:t>hands-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free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operation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natural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cooperation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between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people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mobile</a:t>
            </a:r>
            <a:r>
              <a:rPr sz="9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platforms.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Why</a:t>
            </a:r>
            <a:r>
              <a:rPr sz="10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not</a:t>
            </a:r>
            <a:r>
              <a:rPr sz="10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a</a:t>
            </a:r>
            <a:r>
              <a:rPr sz="1000" spc="8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camera?</a:t>
            </a:r>
            <a:endParaRPr sz="1000">
              <a:latin typeface="Calibri"/>
              <a:cs typeface="Calibri"/>
            </a:endParaRPr>
          </a:p>
          <a:p>
            <a:pPr marL="12700" marR="4508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Vision-based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tracking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(e.g.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Raspberry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Pi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+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camera)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needs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heavy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processing,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more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weight,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cost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power.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Acoustic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sensors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low-cost,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low-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power</a:t>
            </a:r>
            <a:r>
              <a:rPr sz="9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alternative.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Multi-sensor</a:t>
            </a:r>
            <a:r>
              <a:rPr sz="1000" spc="160" dirty="0">
                <a:solidFill>
                  <a:srgbClr val="153156"/>
                </a:solidFill>
                <a:latin typeface="Calibri"/>
                <a:cs typeface="Calibri"/>
              </a:rPr>
              <a:t> 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configuration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front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HC-SR04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ultrasonic</a:t>
            </a:r>
            <a:r>
              <a:rPr sz="900" spc="2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sensor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plus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two</a:t>
            </a:r>
            <a:endParaRPr sz="900">
              <a:latin typeface="Calibri"/>
              <a:cs typeface="Calibri"/>
            </a:endParaRPr>
          </a:p>
          <a:p>
            <a:pPr marL="12700" marR="310515">
              <a:lnSpc>
                <a:spcPct val="116700"/>
              </a:lnSpc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side-mounted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sensors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together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define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clean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spatial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envelope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real-time</a:t>
            </a:r>
            <a:r>
              <a:rPr sz="9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following.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4022" y="513822"/>
            <a:ext cx="1909445" cy="1281430"/>
          </a:xfrm>
          <a:custGeom>
            <a:avLst/>
            <a:gdLst/>
            <a:ahLst/>
            <a:cxnLst/>
            <a:rect l="l" t="t" r="r" b="b"/>
            <a:pathLst>
              <a:path w="1909445" h="1281430">
                <a:moveTo>
                  <a:pt x="1871119" y="0"/>
                </a:moveTo>
                <a:lnTo>
                  <a:pt x="37958" y="0"/>
                </a:lnTo>
                <a:lnTo>
                  <a:pt x="23183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1243289"/>
                </a:lnTo>
                <a:lnTo>
                  <a:pt x="2982" y="1258064"/>
                </a:lnTo>
                <a:lnTo>
                  <a:pt x="11117" y="1270129"/>
                </a:lnTo>
                <a:lnTo>
                  <a:pt x="23183" y="1278264"/>
                </a:lnTo>
                <a:lnTo>
                  <a:pt x="37958" y="1281247"/>
                </a:lnTo>
                <a:lnTo>
                  <a:pt x="1871119" y="1281247"/>
                </a:lnTo>
                <a:lnTo>
                  <a:pt x="1885894" y="1278264"/>
                </a:lnTo>
                <a:lnTo>
                  <a:pt x="1897960" y="1270129"/>
                </a:lnTo>
                <a:lnTo>
                  <a:pt x="1906094" y="1258064"/>
                </a:lnTo>
                <a:lnTo>
                  <a:pt x="1909077" y="1243289"/>
                </a:lnTo>
                <a:lnTo>
                  <a:pt x="1909077" y="37958"/>
                </a:lnTo>
                <a:lnTo>
                  <a:pt x="1906094" y="23182"/>
                </a:lnTo>
                <a:lnTo>
                  <a:pt x="1897960" y="11117"/>
                </a:lnTo>
                <a:lnTo>
                  <a:pt x="1885894" y="2982"/>
                </a:lnTo>
                <a:lnTo>
                  <a:pt x="1871119" y="0"/>
                </a:lnTo>
                <a:close/>
              </a:path>
            </a:pathLst>
          </a:custGeom>
          <a:solidFill>
            <a:srgbClr val="EF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97846" y="513821"/>
            <a:ext cx="1617332" cy="115474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Real-</a:t>
            </a: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world</a:t>
            </a:r>
            <a:r>
              <a:rPr sz="1000" spc="3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40" dirty="0">
                <a:solidFill>
                  <a:srgbClr val="153156"/>
                </a:solidFill>
                <a:latin typeface="Calibri"/>
                <a:cs typeface="Calibri"/>
              </a:rPr>
              <a:t>applications</a:t>
            </a:r>
            <a:endParaRPr sz="1000" dirty="0">
              <a:latin typeface="Calibri"/>
              <a:cs typeface="Calibri"/>
            </a:endParaRPr>
          </a:p>
          <a:p>
            <a:pPr marL="108585" indent="-96520"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  <a:tabLst>
                <a:tab pos="109220" algn="l"/>
              </a:tabLst>
            </a:pPr>
            <a:r>
              <a:rPr sz="800" dirty="0">
                <a:latin typeface="Calibri"/>
                <a:cs typeface="Calibri"/>
              </a:rPr>
              <a:t>Industrial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automation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carts</a:t>
            </a:r>
            <a:endParaRPr sz="800" dirty="0">
              <a:latin typeface="Calibri"/>
              <a:cs typeface="Calibri"/>
            </a:endParaRPr>
          </a:p>
          <a:p>
            <a:pPr marL="108585" indent="-96520">
              <a:lnSpc>
                <a:spcPct val="100000"/>
              </a:lnSpc>
              <a:spcBef>
                <a:spcPts val="425"/>
              </a:spcBef>
              <a:buFont typeface="Times New Roman"/>
              <a:buChar char="•"/>
              <a:tabLst>
                <a:tab pos="109220" algn="l"/>
              </a:tabLst>
            </a:pPr>
            <a:r>
              <a:rPr sz="800" dirty="0">
                <a:latin typeface="Calibri"/>
                <a:cs typeface="Calibri"/>
              </a:rPr>
              <a:t>Hospital</a:t>
            </a:r>
            <a:r>
              <a:rPr sz="800" spc="3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carts</a:t>
            </a:r>
            <a:r>
              <a:rPr sz="800" spc="35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following</a:t>
            </a:r>
            <a:r>
              <a:rPr sz="800" spc="35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staff</a:t>
            </a:r>
            <a:endParaRPr sz="800" dirty="0">
              <a:latin typeface="Calibri"/>
              <a:cs typeface="Calibri"/>
            </a:endParaRPr>
          </a:p>
          <a:p>
            <a:pPr marL="108585" indent="-96520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109220" algn="l"/>
              </a:tabLst>
            </a:pPr>
            <a:r>
              <a:rPr sz="800" dirty="0">
                <a:latin typeface="Calibri"/>
                <a:cs typeface="Calibri"/>
              </a:rPr>
              <a:t>Hands-free</a:t>
            </a:r>
            <a:r>
              <a:rPr sz="800" spc="4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warehouse</a:t>
            </a:r>
            <a:r>
              <a:rPr sz="800" spc="4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transport</a:t>
            </a:r>
            <a:endParaRPr sz="800" dirty="0">
              <a:latin typeface="Calibri"/>
              <a:cs typeface="Calibri"/>
            </a:endParaRPr>
          </a:p>
          <a:p>
            <a:pPr marL="12700" marR="257175" indent="96520">
              <a:lnSpc>
                <a:spcPct val="143200"/>
              </a:lnSpc>
              <a:spcBef>
                <a:spcPts val="300"/>
              </a:spcBef>
              <a:buFont typeface="Times New Roman"/>
              <a:buChar char="•"/>
              <a:tabLst>
                <a:tab pos="109220" algn="l"/>
              </a:tabLst>
            </a:pPr>
            <a:r>
              <a:rPr sz="800" dirty="0">
                <a:latin typeface="Calibri"/>
                <a:cs typeface="Calibri"/>
              </a:rPr>
              <a:t>Automated</a:t>
            </a:r>
            <a:r>
              <a:rPr sz="800" spc="229" dirty="0">
                <a:latin typeface="Calibri"/>
                <a:cs typeface="Calibri"/>
              </a:rPr>
              <a:t>  </a:t>
            </a:r>
            <a:r>
              <a:rPr sz="800" dirty="0">
                <a:latin typeface="Calibri"/>
                <a:cs typeface="Calibri"/>
              </a:rPr>
              <a:t>shopping-</a:t>
            </a:r>
            <a:r>
              <a:rPr sz="800" spc="-10" dirty="0">
                <a:latin typeface="Calibri"/>
                <a:cs typeface="Calibri"/>
              </a:rPr>
              <a:t>guide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robots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84022" y="1926136"/>
            <a:ext cx="1909445" cy="532130"/>
          </a:xfrm>
          <a:custGeom>
            <a:avLst/>
            <a:gdLst/>
            <a:ahLst/>
            <a:cxnLst/>
            <a:rect l="l" t="t" r="r" b="b"/>
            <a:pathLst>
              <a:path w="1909445" h="532130">
                <a:moveTo>
                  <a:pt x="1871119" y="0"/>
                </a:moveTo>
                <a:lnTo>
                  <a:pt x="37958" y="0"/>
                </a:lnTo>
                <a:lnTo>
                  <a:pt x="23183" y="2982"/>
                </a:lnTo>
                <a:lnTo>
                  <a:pt x="11117" y="11117"/>
                </a:lnTo>
                <a:lnTo>
                  <a:pt x="2982" y="23183"/>
                </a:lnTo>
                <a:lnTo>
                  <a:pt x="0" y="37958"/>
                </a:lnTo>
                <a:lnTo>
                  <a:pt x="0" y="493961"/>
                </a:lnTo>
                <a:lnTo>
                  <a:pt x="2982" y="508736"/>
                </a:lnTo>
                <a:lnTo>
                  <a:pt x="11117" y="520801"/>
                </a:lnTo>
                <a:lnTo>
                  <a:pt x="23183" y="528936"/>
                </a:lnTo>
                <a:lnTo>
                  <a:pt x="37958" y="531919"/>
                </a:lnTo>
                <a:lnTo>
                  <a:pt x="1871119" y="531919"/>
                </a:lnTo>
                <a:lnTo>
                  <a:pt x="1885894" y="528936"/>
                </a:lnTo>
                <a:lnTo>
                  <a:pt x="1897960" y="520801"/>
                </a:lnTo>
                <a:lnTo>
                  <a:pt x="1906094" y="508736"/>
                </a:lnTo>
                <a:lnTo>
                  <a:pt x="1909077" y="493961"/>
                </a:lnTo>
                <a:lnTo>
                  <a:pt x="1909077" y="37958"/>
                </a:lnTo>
                <a:lnTo>
                  <a:pt x="1906094" y="23183"/>
                </a:lnTo>
                <a:lnTo>
                  <a:pt x="1897960" y="11117"/>
                </a:lnTo>
                <a:lnTo>
                  <a:pt x="1885894" y="2982"/>
                </a:lnTo>
                <a:lnTo>
                  <a:pt x="1871119" y="0"/>
                </a:lnTo>
                <a:close/>
              </a:path>
            </a:pathLst>
          </a:custGeom>
          <a:solidFill>
            <a:srgbClr val="1532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62603" y="1964563"/>
            <a:ext cx="1552575" cy="3746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8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goal: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800" dirty="0">
                <a:solidFill>
                  <a:srgbClr val="F1C462"/>
                </a:solidFill>
                <a:latin typeface="Calibri"/>
                <a:cs typeface="Calibri"/>
              </a:rPr>
              <a:t>low-cost</a:t>
            </a:r>
            <a:r>
              <a:rPr sz="800" spc="355" dirty="0">
                <a:solidFill>
                  <a:srgbClr val="F1C462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1C462"/>
                </a:solidFill>
                <a:latin typeface="Times New Roman"/>
                <a:cs typeface="Times New Roman"/>
              </a:rPr>
              <a:t>|</a:t>
            </a:r>
            <a:r>
              <a:rPr sz="800" i="1" spc="335" dirty="0">
                <a:solidFill>
                  <a:srgbClr val="F1C462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F1C462"/>
                </a:solidFill>
                <a:latin typeface="Calibri"/>
                <a:cs typeface="Calibri"/>
              </a:rPr>
              <a:t>low-power</a:t>
            </a:r>
            <a:r>
              <a:rPr sz="800" spc="360" dirty="0">
                <a:solidFill>
                  <a:srgbClr val="F1C462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1C462"/>
                </a:solidFill>
                <a:latin typeface="Times New Roman"/>
                <a:cs typeface="Times New Roman"/>
              </a:rPr>
              <a:t>|</a:t>
            </a:r>
            <a:r>
              <a:rPr sz="800" i="1" spc="335" dirty="0">
                <a:solidFill>
                  <a:srgbClr val="F1C462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F1C462"/>
                </a:solidFill>
                <a:latin typeface="Calibri"/>
                <a:cs typeface="Calibri"/>
              </a:rPr>
              <a:t>real-</a:t>
            </a:r>
            <a:r>
              <a:rPr sz="800" spc="-20" dirty="0">
                <a:solidFill>
                  <a:srgbClr val="F1C462"/>
                </a:solidFill>
                <a:latin typeface="Calibri"/>
                <a:cs typeface="Calibri"/>
              </a:rPr>
              <a:t>time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3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System</a:t>
            </a:r>
            <a:r>
              <a:rPr spc="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93318"/>
            <a:ext cx="2030095" cy="200278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Sensor</a:t>
            </a:r>
            <a:r>
              <a:rPr sz="1000" spc="3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input</a:t>
            </a:r>
            <a:endParaRPr sz="1000">
              <a:latin typeface="Calibri"/>
              <a:cs typeface="Calibri"/>
            </a:endParaRPr>
          </a:p>
          <a:p>
            <a:pPr marL="12700" marR="4572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HC-SR04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gives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front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distance;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left/right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IR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modules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flag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lateral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offset.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Central</a:t>
            </a:r>
            <a:r>
              <a:rPr sz="1000" spc="2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processing</a:t>
            </a:r>
            <a:endParaRPr sz="1000">
              <a:latin typeface="Calibri"/>
              <a:cs typeface="Calibri"/>
            </a:endParaRPr>
          </a:p>
          <a:p>
            <a:pPr marL="12700" marR="3873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Arduino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Uno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runs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state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machine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that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turns</a:t>
            </a:r>
            <a:r>
              <a:rPr sz="9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sensor</a:t>
            </a:r>
            <a:r>
              <a:rPr sz="9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readings</a:t>
            </a:r>
            <a:r>
              <a:rPr sz="9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into</a:t>
            </a:r>
            <a:r>
              <a:rPr sz="9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direction</a:t>
            </a:r>
            <a:r>
              <a:rPr sz="9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PWM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speed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commands.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Actuation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L298N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H-bridge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drives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four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BO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geared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motors;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steering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by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differential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wheel</a:t>
            </a:r>
            <a:r>
              <a:rPr sz="9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speed.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11500" y="872668"/>
            <a:ext cx="1045844" cy="304165"/>
            <a:chOff x="2873497" y="783732"/>
            <a:chExt cx="1045844" cy="304165"/>
          </a:xfrm>
        </p:grpSpPr>
        <p:sp>
          <p:nvSpPr>
            <p:cNvPr id="5" name="object 5"/>
            <p:cNvSpPr/>
            <p:nvPr/>
          </p:nvSpPr>
          <p:spPr>
            <a:xfrm>
              <a:off x="2877942" y="788177"/>
              <a:ext cx="1036955" cy="295275"/>
            </a:xfrm>
            <a:custGeom>
              <a:avLst/>
              <a:gdLst/>
              <a:ahLst/>
              <a:cxnLst/>
              <a:rect l="l" t="t" r="r" b="b"/>
              <a:pathLst>
                <a:path w="1036954" h="29527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9437"/>
                  </a:lnTo>
                  <a:lnTo>
                    <a:pt x="1988" y="279287"/>
                  </a:lnTo>
                  <a:lnTo>
                    <a:pt x="7411" y="287331"/>
                  </a:lnTo>
                  <a:lnTo>
                    <a:pt x="15455" y="292754"/>
                  </a:lnTo>
                  <a:lnTo>
                    <a:pt x="25305" y="294743"/>
                  </a:lnTo>
                  <a:lnTo>
                    <a:pt x="1011502" y="294743"/>
                  </a:lnTo>
                  <a:lnTo>
                    <a:pt x="1021352" y="292754"/>
                  </a:lnTo>
                  <a:lnTo>
                    <a:pt x="1029396" y="287331"/>
                  </a:lnTo>
                  <a:lnTo>
                    <a:pt x="1034819" y="279287"/>
                  </a:lnTo>
                  <a:lnTo>
                    <a:pt x="1036807" y="269437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77942" y="788177"/>
              <a:ext cx="1036955" cy="295275"/>
            </a:xfrm>
            <a:custGeom>
              <a:avLst/>
              <a:gdLst/>
              <a:ahLst/>
              <a:cxnLst/>
              <a:rect l="l" t="t" r="r" b="b"/>
              <a:pathLst>
                <a:path w="1036954" h="29527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9437"/>
                  </a:lnTo>
                  <a:lnTo>
                    <a:pt x="1988" y="279287"/>
                  </a:lnTo>
                  <a:lnTo>
                    <a:pt x="7411" y="287331"/>
                  </a:lnTo>
                  <a:lnTo>
                    <a:pt x="15455" y="292754"/>
                  </a:lnTo>
                  <a:lnTo>
                    <a:pt x="25305" y="294743"/>
                  </a:lnTo>
                  <a:lnTo>
                    <a:pt x="1011502" y="294743"/>
                  </a:lnTo>
                  <a:lnTo>
                    <a:pt x="1021352" y="292754"/>
                  </a:lnTo>
                  <a:lnTo>
                    <a:pt x="1029396" y="287331"/>
                  </a:lnTo>
                  <a:lnTo>
                    <a:pt x="1034819" y="279287"/>
                  </a:lnTo>
                  <a:lnTo>
                    <a:pt x="1036807" y="269437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ln w="8856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42093" y="859559"/>
            <a:ext cx="584835" cy="302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225"/>
              </a:spcBef>
            </a:pPr>
            <a:r>
              <a:rPr sz="800" spc="95" dirty="0">
                <a:solidFill>
                  <a:srgbClr val="153156"/>
                </a:solidFill>
                <a:latin typeface="Calibri"/>
                <a:cs typeface="Calibri"/>
              </a:rPr>
              <a:t>HC-</a:t>
            </a:r>
            <a:r>
              <a:rPr sz="800" spc="105" dirty="0">
                <a:solidFill>
                  <a:srgbClr val="153156"/>
                </a:solidFill>
                <a:latin typeface="Calibri"/>
                <a:cs typeface="Calibri"/>
              </a:rPr>
              <a:t>SR04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95" dirty="0">
                <a:solidFill>
                  <a:srgbClr val="153156"/>
                </a:solidFill>
                <a:latin typeface="Calibri"/>
                <a:cs typeface="Calibri"/>
              </a:rPr>
              <a:t>Ultrasonic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7513" y="860015"/>
            <a:ext cx="1045844" cy="329565"/>
            <a:chOff x="4169510" y="771079"/>
            <a:chExt cx="1045844" cy="329565"/>
          </a:xfrm>
        </p:grpSpPr>
        <p:sp>
          <p:nvSpPr>
            <p:cNvPr id="9" name="object 9"/>
            <p:cNvSpPr/>
            <p:nvPr/>
          </p:nvSpPr>
          <p:spPr>
            <a:xfrm>
              <a:off x="4173955" y="775524"/>
              <a:ext cx="1036955" cy="320675"/>
            </a:xfrm>
            <a:custGeom>
              <a:avLst/>
              <a:gdLst/>
              <a:ahLst/>
              <a:cxnLst/>
              <a:rect l="l" t="t" r="r" b="b"/>
              <a:pathLst>
                <a:path w="1036954" h="32067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4743"/>
                  </a:lnTo>
                  <a:lnTo>
                    <a:pt x="1988" y="304593"/>
                  </a:lnTo>
                  <a:lnTo>
                    <a:pt x="7411" y="312636"/>
                  </a:lnTo>
                  <a:lnTo>
                    <a:pt x="15455" y="318060"/>
                  </a:lnTo>
                  <a:lnTo>
                    <a:pt x="25305" y="320048"/>
                  </a:lnTo>
                  <a:lnTo>
                    <a:pt x="1011502" y="320048"/>
                  </a:lnTo>
                  <a:lnTo>
                    <a:pt x="1021352" y="318060"/>
                  </a:lnTo>
                  <a:lnTo>
                    <a:pt x="1029396" y="312636"/>
                  </a:lnTo>
                  <a:lnTo>
                    <a:pt x="1034819" y="304593"/>
                  </a:lnTo>
                  <a:lnTo>
                    <a:pt x="1036807" y="294743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73955" y="775524"/>
              <a:ext cx="1036955" cy="320675"/>
            </a:xfrm>
            <a:custGeom>
              <a:avLst/>
              <a:gdLst/>
              <a:ahLst/>
              <a:cxnLst/>
              <a:rect l="l" t="t" r="r" b="b"/>
              <a:pathLst>
                <a:path w="1036954" h="32067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4743"/>
                  </a:lnTo>
                  <a:lnTo>
                    <a:pt x="1988" y="304593"/>
                  </a:lnTo>
                  <a:lnTo>
                    <a:pt x="7411" y="312636"/>
                  </a:lnTo>
                  <a:lnTo>
                    <a:pt x="15455" y="318060"/>
                  </a:lnTo>
                  <a:lnTo>
                    <a:pt x="25305" y="320048"/>
                  </a:lnTo>
                  <a:lnTo>
                    <a:pt x="1011502" y="320048"/>
                  </a:lnTo>
                  <a:lnTo>
                    <a:pt x="1021352" y="318060"/>
                  </a:lnTo>
                  <a:lnTo>
                    <a:pt x="1029396" y="312636"/>
                  </a:lnTo>
                  <a:lnTo>
                    <a:pt x="1034819" y="304593"/>
                  </a:lnTo>
                  <a:lnTo>
                    <a:pt x="1036807" y="294743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ln w="8856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90656" y="851863"/>
            <a:ext cx="879475" cy="30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marR="5080" indent="-65405">
              <a:lnSpc>
                <a:spcPct val="113399"/>
              </a:lnSpc>
              <a:spcBef>
                <a:spcPts val="100"/>
              </a:spcBef>
            </a:pPr>
            <a:r>
              <a:rPr sz="800" spc="114" dirty="0">
                <a:solidFill>
                  <a:srgbClr val="153156"/>
                </a:solidFill>
                <a:latin typeface="Calibri"/>
                <a:cs typeface="Calibri"/>
              </a:rPr>
              <a:t>Dual</a:t>
            </a:r>
            <a:r>
              <a:rPr sz="8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110" dirty="0">
                <a:solidFill>
                  <a:srgbClr val="153156"/>
                </a:solidFill>
                <a:latin typeface="Calibri"/>
                <a:cs typeface="Calibri"/>
              </a:rPr>
              <a:t>IR</a:t>
            </a:r>
            <a:r>
              <a:rPr sz="8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110" dirty="0">
                <a:solidFill>
                  <a:srgbClr val="153156"/>
                </a:solidFill>
                <a:latin typeface="Calibri"/>
                <a:cs typeface="Calibri"/>
              </a:rPr>
              <a:t>Sensors </a:t>
            </a: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(Left</a:t>
            </a:r>
            <a:r>
              <a:rPr sz="800" spc="7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145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7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Right)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29904" y="1362501"/>
            <a:ext cx="1304925" cy="332105"/>
            <a:chOff x="3391901" y="1273565"/>
            <a:chExt cx="1304925" cy="332105"/>
          </a:xfrm>
        </p:grpSpPr>
        <p:sp>
          <p:nvSpPr>
            <p:cNvPr id="13" name="object 13"/>
            <p:cNvSpPr/>
            <p:nvPr/>
          </p:nvSpPr>
          <p:spPr>
            <a:xfrm>
              <a:off x="3396346" y="1278010"/>
              <a:ext cx="1296035" cy="323215"/>
            </a:xfrm>
            <a:custGeom>
              <a:avLst/>
              <a:gdLst/>
              <a:ahLst/>
              <a:cxnLst/>
              <a:rect l="l" t="t" r="r" b="b"/>
              <a:pathLst>
                <a:path w="1296035" h="323215">
                  <a:moveTo>
                    <a:pt x="127070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7780"/>
                  </a:lnTo>
                  <a:lnTo>
                    <a:pt x="1988" y="307630"/>
                  </a:lnTo>
                  <a:lnTo>
                    <a:pt x="7411" y="315673"/>
                  </a:lnTo>
                  <a:lnTo>
                    <a:pt x="15455" y="321097"/>
                  </a:lnTo>
                  <a:lnTo>
                    <a:pt x="25305" y="323085"/>
                  </a:lnTo>
                  <a:lnTo>
                    <a:pt x="1270707" y="323085"/>
                  </a:lnTo>
                  <a:lnTo>
                    <a:pt x="1280557" y="321097"/>
                  </a:lnTo>
                  <a:lnTo>
                    <a:pt x="1288600" y="315673"/>
                  </a:lnTo>
                  <a:lnTo>
                    <a:pt x="1294023" y="307630"/>
                  </a:lnTo>
                  <a:lnTo>
                    <a:pt x="1296012" y="297780"/>
                  </a:lnTo>
                  <a:lnTo>
                    <a:pt x="1296012" y="25305"/>
                  </a:lnTo>
                  <a:lnTo>
                    <a:pt x="1294023" y="15455"/>
                  </a:lnTo>
                  <a:lnTo>
                    <a:pt x="1288600" y="7411"/>
                  </a:lnTo>
                  <a:lnTo>
                    <a:pt x="1280557" y="1988"/>
                  </a:lnTo>
                  <a:lnTo>
                    <a:pt x="1270707" y="0"/>
                  </a:lnTo>
                  <a:close/>
                </a:path>
              </a:pathLst>
            </a:custGeom>
            <a:solidFill>
              <a:srgbClr val="F5E4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6346" y="1278010"/>
              <a:ext cx="1296035" cy="323215"/>
            </a:xfrm>
            <a:custGeom>
              <a:avLst/>
              <a:gdLst/>
              <a:ahLst/>
              <a:cxnLst/>
              <a:rect l="l" t="t" r="r" b="b"/>
              <a:pathLst>
                <a:path w="1296035" h="323215">
                  <a:moveTo>
                    <a:pt x="127070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7780"/>
                  </a:lnTo>
                  <a:lnTo>
                    <a:pt x="1988" y="307630"/>
                  </a:lnTo>
                  <a:lnTo>
                    <a:pt x="7411" y="315673"/>
                  </a:lnTo>
                  <a:lnTo>
                    <a:pt x="15455" y="321097"/>
                  </a:lnTo>
                  <a:lnTo>
                    <a:pt x="25305" y="323085"/>
                  </a:lnTo>
                  <a:lnTo>
                    <a:pt x="1270707" y="323085"/>
                  </a:lnTo>
                  <a:lnTo>
                    <a:pt x="1280557" y="321097"/>
                  </a:lnTo>
                  <a:lnTo>
                    <a:pt x="1288600" y="315673"/>
                  </a:lnTo>
                  <a:lnTo>
                    <a:pt x="1294023" y="307630"/>
                  </a:lnTo>
                  <a:lnTo>
                    <a:pt x="1296012" y="297780"/>
                  </a:lnTo>
                  <a:lnTo>
                    <a:pt x="1296012" y="25305"/>
                  </a:lnTo>
                  <a:lnTo>
                    <a:pt x="1294023" y="15455"/>
                  </a:lnTo>
                  <a:lnTo>
                    <a:pt x="1288600" y="7411"/>
                  </a:lnTo>
                  <a:lnTo>
                    <a:pt x="1280557" y="1988"/>
                  </a:lnTo>
                  <a:lnTo>
                    <a:pt x="1270707" y="0"/>
                  </a:lnTo>
                  <a:close/>
                </a:path>
              </a:pathLst>
            </a:custGeom>
            <a:ln w="8856">
              <a:solidFill>
                <a:srgbClr val="9766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27728" y="1357386"/>
            <a:ext cx="709295" cy="30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13399"/>
              </a:lnSpc>
              <a:spcBef>
                <a:spcPts val="100"/>
              </a:spcBef>
            </a:pPr>
            <a:r>
              <a:rPr sz="800" spc="105" dirty="0">
                <a:solidFill>
                  <a:srgbClr val="153156"/>
                </a:solidFill>
                <a:latin typeface="Calibri"/>
                <a:cs typeface="Calibri"/>
              </a:rPr>
              <a:t>Arduino</a:t>
            </a:r>
            <a:r>
              <a:rPr sz="800" spc="100" dirty="0">
                <a:solidFill>
                  <a:srgbClr val="153156"/>
                </a:solidFill>
                <a:latin typeface="Calibri"/>
                <a:cs typeface="Calibri"/>
              </a:rPr>
              <a:t> Uno </a:t>
            </a: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ATmega328P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34005" y="1892036"/>
            <a:ext cx="1045844" cy="302895"/>
            <a:chOff x="2873498" y="1792353"/>
            <a:chExt cx="1045844" cy="302895"/>
          </a:xfrm>
        </p:grpSpPr>
        <p:sp>
          <p:nvSpPr>
            <p:cNvPr id="17" name="object 17"/>
            <p:cNvSpPr/>
            <p:nvPr/>
          </p:nvSpPr>
          <p:spPr>
            <a:xfrm>
              <a:off x="2877943" y="1796798"/>
              <a:ext cx="1036955" cy="294005"/>
            </a:xfrm>
            <a:custGeom>
              <a:avLst/>
              <a:gdLst/>
              <a:ahLst/>
              <a:cxnLst/>
              <a:rect l="l" t="t" r="r" b="b"/>
              <a:pathLst>
                <a:path w="1036954" h="29400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8222"/>
                  </a:lnTo>
                  <a:lnTo>
                    <a:pt x="1988" y="278073"/>
                  </a:lnTo>
                  <a:lnTo>
                    <a:pt x="7411" y="286116"/>
                  </a:lnTo>
                  <a:lnTo>
                    <a:pt x="15455" y="291539"/>
                  </a:lnTo>
                  <a:lnTo>
                    <a:pt x="25305" y="293528"/>
                  </a:lnTo>
                  <a:lnTo>
                    <a:pt x="1011502" y="293528"/>
                  </a:lnTo>
                  <a:lnTo>
                    <a:pt x="1021352" y="291539"/>
                  </a:lnTo>
                  <a:lnTo>
                    <a:pt x="1029395" y="286116"/>
                  </a:lnTo>
                  <a:lnTo>
                    <a:pt x="1034819" y="278073"/>
                  </a:lnTo>
                  <a:lnTo>
                    <a:pt x="1036807" y="268222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5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77943" y="1796798"/>
              <a:ext cx="1036955" cy="294005"/>
            </a:xfrm>
            <a:custGeom>
              <a:avLst/>
              <a:gdLst/>
              <a:ahLst/>
              <a:cxnLst/>
              <a:rect l="l" t="t" r="r" b="b"/>
              <a:pathLst>
                <a:path w="1036954" h="294005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68222"/>
                  </a:lnTo>
                  <a:lnTo>
                    <a:pt x="1988" y="278073"/>
                  </a:lnTo>
                  <a:lnTo>
                    <a:pt x="7411" y="286116"/>
                  </a:lnTo>
                  <a:lnTo>
                    <a:pt x="15455" y="291539"/>
                  </a:lnTo>
                  <a:lnTo>
                    <a:pt x="25305" y="293528"/>
                  </a:lnTo>
                  <a:lnTo>
                    <a:pt x="1011502" y="293528"/>
                  </a:lnTo>
                  <a:lnTo>
                    <a:pt x="1021352" y="291539"/>
                  </a:lnTo>
                  <a:lnTo>
                    <a:pt x="1029395" y="286116"/>
                  </a:lnTo>
                  <a:lnTo>
                    <a:pt x="1034819" y="278073"/>
                  </a:lnTo>
                  <a:lnTo>
                    <a:pt x="1036807" y="268222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5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ln w="8856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00526" y="1877721"/>
            <a:ext cx="713105" cy="302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L298N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Motor</a:t>
            </a:r>
            <a:r>
              <a:rPr sz="800" spc="8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85" dirty="0">
                <a:solidFill>
                  <a:srgbClr val="153156"/>
                </a:solidFill>
                <a:latin typeface="Calibri"/>
                <a:cs typeface="Calibri"/>
              </a:rPr>
              <a:t>Driver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56303" y="1897292"/>
            <a:ext cx="1045844" cy="316230"/>
            <a:chOff x="4169510" y="1785622"/>
            <a:chExt cx="1045844" cy="316230"/>
          </a:xfrm>
        </p:grpSpPr>
        <p:sp>
          <p:nvSpPr>
            <p:cNvPr id="21" name="object 21"/>
            <p:cNvSpPr/>
            <p:nvPr/>
          </p:nvSpPr>
          <p:spPr>
            <a:xfrm>
              <a:off x="4173955" y="1790067"/>
              <a:ext cx="1036955" cy="307340"/>
            </a:xfrm>
            <a:custGeom>
              <a:avLst/>
              <a:gdLst/>
              <a:ahLst/>
              <a:cxnLst/>
              <a:rect l="l" t="t" r="r" b="b"/>
              <a:pathLst>
                <a:path w="1036954" h="307339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81685"/>
                  </a:lnTo>
                  <a:lnTo>
                    <a:pt x="1988" y="291535"/>
                  </a:lnTo>
                  <a:lnTo>
                    <a:pt x="7411" y="299579"/>
                  </a:lnTo>
                  <a:lnTo>
                    <a:pt x="15455" y="305002"/>
                  </a:lnTo>
                  <a:lnTo>
                    <a:pt x="25305" y="306990"/>
                  </a:lnTo>
                  <a:lnTo>
                    <a:pt x="1011502" y="306990"/>
                  </a:lnTo>
                  <a:lnTo>
                    <a:pt x="1021352" y="305002"/>
                  </a:lnTo>
                  <a:lnTo>
                    <a:pt x="1029396" y="299579"/>
                  </a:lnTo>
                  <a:lnTo>
                    <a:pt x="1034819" y="291535"/>
                  </a:lnTo>
                  <a:lnTo>
                    <a:pt x="1036807" y="281685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solidFill>
              <a:srgbClr val="F9E7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73955" y="1790067"/>
              <a:ext cx="1036955" cy="307340"/>
            </a:xfrm>
            <a:custGeom>
              <a:avLst/>
              <a:gdLst/>
              <a:ahLst/>
              <a:cxnLst/>
              <a:rect l="l" t="t" r="r" b="b"/>
              <a:pathLst>
                <a:path w="1036954" h="307339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81685"/>
                  </a:lnTo>
                  <a:lnTo>
                    <a:pt x="1988" y="291535"/>
                  </a:lnTo>
                  <a:lnTo>
                    <a:pt x="7411" y="299579"/>
                  </a:lnTo>
                  <a:lnTo>
                    <a:pt x="15455" y="305002"/>
                  </a:lnTo>
                  <a:lnTo>
                    <a:pt x="25305" y="306990"/>
                  </a:lnTo>
                  <a:lnTo>
                    <a:pt x="1011502" y="306990"/>
                  </a:lnTo>
                  <a:lnTo>
                    <a:pt x="1021352" y="305002"/>
                  </a:lnTo>
                  <a:lnTo>
                    <a:pt x="1029396" y="299579"/>
                  </a:lnTo>
                  <a:lnTo>
                    <a:pt x="1034819" y="291535"/>
                  </a:lnTo>
                  <a:lnTo>
                    <a:pt x="1036807" y="281685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6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ln w="8856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03851" y="1860243"/>
            <a:ext cx="653415" cy="30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5080" indent="-38100">
              <a:lnSpc>
                <a:spcPct val="113399"/>
              </a:lnSpc>
              <a:spcBef>
                <a:spcPts val="100"/>
              </a:spcBef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7.4V</a:t>
            </a:r>
            <a:r>
              <a:rPr sz="800" spc="14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Battery </a:t>
            </a:r>
            <a:r>
              <a:rPr sz="800" spc="85" dirty="0">
                <a:solidFill>
                  <a:srgbClr val="153156"/>
                </a:solidFill>
                <a:latin typeface="Calibri"/>
                <a:cs typeface="Calibri"/>
              </a:rPr>
              <a:t>(2</a:t>
            </a:r>
            <a:r>
              <a:rPr sz="800" i="1" spc="85" dirty="0">
                <a:solidFill>
                  <a:srgbClr val="153156"/>
                </a:solidFill>
                <a:latin typeface="Times New Roman"/>
                <a:cs typeface="Times New Roman"/>
              </a:rPr>
              <a:t>×</a:t>
            </a:r>
            <a:r>
              <a:rPr sz="800" spc="85" dirty="0">
                <a:solidFill>
                  <a:srgbClr val="153156"/>
                </a:solidFill>
                <a:latin typeface="Calibri"/>
                <a:cs typeface="Calibri"/>
              </a:rPr>
              <a:t>18650)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11501" y="2374513"/>
            <a:ext cx="1045844" cy="324485"/>
            <a:chOff x="2873498" y="2285577"/>
            <a:chExt cx="1045844" cy="324485"/>
          </a:xfrm>
        </p:grpSpPr>
        <p:sp>
          <p:nvSpPr>
            <p:cNvPr id="25" name="object 25"/>
            <p:cNvSpPr/>
            <p:nvPr/>
          </p:nvSpPr>
          <p:spPr>
            <a:xfrm>
              <a:off x="2877943" y="2290022"/>
              <a:ext cx="1036955" cy="315595"/>
            </a:xfrm>
            <a:custGeom>
              <a:avLst/>
              <a:gdLst/>
              <a:ahLst/>
              <a:cxnLst/>
              <a:rect l="l" t="t" r="r" b="b"/>
              <a:pathLst>
                <a:path w="1036954" h="315594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89783"/>
                  </a:lnTo>
                  <a:lnTo>
                    <a:pt x="1988" y="299633"/>
                  </a:lnTo>
                  <a:lnTo>
                    <a:pt x="7411" y="307677"/>
                  </a:lnTo>
                  <a:lnTo>
                    <a:pt x="15455" y="313100"/>
                  </a:lnTo>
                  <a:lnTo>
                    <a:pt x="25305" y="315088"/>
                  </a:lnTo>
                  <a:lnTo>
                    <a:pt x="1011502" y="315088"/>
                  </a:lnTo>
                  <a:lnTo>
                    <a:pt x="1021352" y="313100"/>
                  </a:lnTo>
                  <a:lnTo>
                    <a:pt x="1029395" y="307677"/>
                  </a:lnTo>
                  <a:lnTo>
                    <a:pt x="1034819" y="299633"/>
                  </a:lnTo>
                  <a:lnTo>
                    <a:pt x="1036807" y="289783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5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77943" y="2290022"/>
              <a:ext cx="1036955" cy="315595"/>
            </a:xfrm>
            <a:custGeom>
              <a:avLst/>
              <a:gdLst/>
              <a:ahLst/>
              <a:cxnLst/>
              <a:rect l="l" t="t" r="r" b="b"/>
              <a:pathLst>
                <a:path w="1036954" h="315594">
                  <a:moveTo>
                    <a:pt x="1011502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89783"/>
                  </a:lnTo>
                  <a:lnTo>
                    <a:pt x="1988" y="299633"/>
                  </a:lnTo>
                  <a:lnTo>
                    <a:pt x="7411" y="307677"/>
                  </a:lnTo>
                  <a:lnTo>
                    <a:pt x="15455" y="313100"/>
                  </a:lnTo>
                  <a:lnTo>
                    <a:pt x="25305" y="315088"/>
                  </a:lnTo>
                  <a:lnTo>
                    <a:pt x="1011502" y="315088"/>
                  </a:lnTo>
                  <a:lnTo>
                    <a:pt x="1021352" y="313100"/>
                  </a:lnTo>
                  <a:lnTo>
                    <a:pt x="1029395" y="307677"/>
                  </a:lnTo>
                  <a:lnTo>
                    <a:pt x="1034819" y="299633"/>
                  </a:lnTo>
                  <a:lnTo>
                    <a:pt x="1036807" y="289783"/>
                  </a:lnTo>
                  <a:lnTo>
                    <a:pt x="1036807" y="25305"/>
                  </a:lnTo>
                  <a:lnTo>
                    <a:pt x="1034819" y="15455"/>
                  </a:lnTo>
                  <a:lnTo>
                    <a:pt x="1029395" y="7411"/>
                  </a:lnTo>
                  <a:lnTo>
                    <a:pt x="1021352" y="1988"/>
                  </a:lnTo>
                  <a:lnTo>
                    <a:pt x="1011502" y="0"/>
                  </a:lnTo>
                  <a:close/>
                </a:path>
              </a:pathLst>
            </a:custGeom>
            <a:ln w="8856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33343" y="2516400"/>
            <a:ext cx="602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25" dirty="0">
                <a:solidFill>
                  <a:srgbClr val="153156"/>
                </a:solidFill>
                <a:latin typeface="Calibri"/>
                <a:cs typeface="Calibri"/>
              </a:rPr>
              <a:t>(L/R</a:t>
            </a:r>
            <a:r>
              <a:rPr sz="8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90" dirty="0">
                <a:solidFill>
                  <a:srgbClr val="153156"/>
                </a:solidFill>
                <a:latin typeface="Calibri"/>
                <a:cs typeface="Calibri"/>
              </a:rPr>
              <a:t>pairs)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3767" y="1170591"/>
            <a:ext cx="239798" cy="18873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556927" y="1212361"/>
            <a:ext cx="3479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50" dirty="0">
                <a:solidFill>
                  <a:srgbClr val="6B6E76"/>
                </a:solidFill>
                <a:latin typeface="Calibri"/>
                <a:cs typeface="Calibri"/>
              </a:rPr>
              <a:t>Echo/Trig</a:t>
            </a:r>
            <a:endParaRPr sz="5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190" y="1183244"/>
            <a:ext cx="223568" cy="17607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652200" y="1217098"/>
            <a:ext cx="3270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55" dirty="0">
                <a:solidFill>
                  <a:srgbClr val="6B6E76"/>
                </a:solidFill>
                <a:latin typeface="Calibri"/>
                <a:cs typeface="Calibri"/>
              </a:rPr>
              <a:t>Digital</a:t>
            </a:r>
            <a:r>
              <a:rPr sz="500" spc="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500" spc="35" dirty="0">
                <a:solidFill>
                  <a:srgbClr val="6B6E76"/>
                </a:solidFill>
                <a:latin typeface="Calibri"/>
                <a:cs typeface="Calibri"/>
              </a:rPr>
              <a:t>In</a:t>
            </a:r>
            <a:endParaRPr sz="5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4009" y="1688767"/>
            <a:ext cx="240597" cy="189343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537877" y="1734153"/>
            <a:ext cx="36639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PWM</a:t>
            </a:r>
            <a:r>
              <a:rPr sz="500" spc="12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500" spc="114" dirty="0">
                <a:solidFill>
                  <a:srgbClr val="6B6E76"/>
                </a:solidFill>
                <a:latin typeface="Calibri"/>
                <a:cs typeface="Calibri"/>
              </a:rPr>
              <a:t>/</a:t>
            </a:r>
            <a:r>
              <a:rPr sz="500" spc="12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500" spc="25" dirty="0">
                <a:solidFill>
                  <a:srgbClr val="6B6E76"/>
                </a:solidFill>
                <a:latin typeface="Calibri"/>
                <a:cs typeface="Calibri"/>
              </a:rPr>
              <a:t>Dir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620376" y="2195195"/>
            <a:ext cx="27940" cy="189230"/>
            <a:chOff x="3382373" y="2089040"/>
            <a:chExt cx="27940" cy="189230"/>
          </a:xfrm>
        </p:grpSpPr>
        <p:sp>
          <p:nvSpPr>
            <p:cNvPr id="35" name="object 35"/>
            <p:cNvSpPr/>
            <p:nvPr/>
          </p:nvSpPr>
          <p:spPr>
            <a:xfrm>
              <a:off x="3396192" y="2094755"/>
              <a:ext cx="635" cy="160655"/>
            </a:xfrm>
            <a:custGeom>
              <a:avLst/>
              <a:gdLst/>
              <a:ahLst/>
              <a:cxnLst/>
              <a:rect l="l" t="t" r="r" b="b"/>
              <a:pathLst>
                <a:path w="635" h="160655">
                  <a:moveTo>
                    <a:pt x="0" y="0"/>
                  </a:moveTo>
                  <a:lnTo>
                    <a:pt x="12" y="160192"/>
                  </a:lnTo>
                </a:path>
              </a:pathLst>
            </a:custGeom>
            <a:ln w="11387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86818" y="2248773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4">
                  <a:moveTo>
                    <a:pt x="18773" y="0"/>
                  </a:moveTo>
                  <a:lnTo>
                    <a:pt x="9387" y="8308"/>
                  </a:lnTo>
                  <a:lnTo>
                    <a:pt x="0" y="1"/>
                  </a:lnTo>
                  <a:lnTo>
                    <a:pt x="9388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86818" y="2248773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4">
                  <a:moveTo>
                    <a:pt x="9388" y="24658"/>
                  </a:moveTo>
                  <a:lnTo>
                    <a:pt x="18773" y="0"/>
                  </a:lnTo>
                  <a:lnTo>
                    <a:pt x="9387" y="8308"/>
                  </a:lnTo>
                  <a:lnTo>
                    <a:pt x="0" y="1"/>
                  </a:lnTo>
                  <a:lnTo>
                    <a:pt x="9388" y="24658"/>
                  </a:lnTo>
                  <a:close/>
                </a:path>
              </a:pathLst>
            </a:custGeom>
            <a:ln w="8540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139160" y="2220487"/>
            <a:ext cx="891540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6B6E76"/>
                </a:solidFill>
                <a:latin typeface="Calibri"/>
                <a:cs typeface="Calibri"/>
              </a:rPr>
              <a:t>High </a:t>
            </a:r>
            <a:r>
              <a:rPr sz="500" spc="45" dirty="0">
                <a:solidFill>
                  <a:srgbClr val="6B6E76"/>
                </a:solidFill>
                <a:latin typeface="Calibri"/>
                <a:cs typeface="Calibri"/>
              </a:rPr>
              <a:t>Current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00" dirty="0">
              <a:latin typeface="Calibri"/>
              <a:cs typeface="Calibri"/>
            </a:endParaRPr>
          </a:p>
          <a:p>
            <a:pPr marL="111125">
              <a:lnSpc>
                <a:spcPct val="100000"/>
              </a:lnSpc>
            </a:pPr>
            <a:r>
              <a:rPr sz="800" spc="170" dirty="0">
                <a:solidFill>
                  <a:srgbClr val="153156"/>
                </a:solidFill>
                <a:latin typeface="Calibri"/>
                <a:cs typeface="Calibri"/>
              </a:rPr>
              <a:t>4</a:t>
            </a:r>
            <a:r>
              <a:rPr sz="800" i="1" spc="170" dirty="0">
                <a:solidFill>
                  <a:srgbClr val="153156"/>
                </a:solidFill>
                <a:latin typeface="Times New Roman"/>
                <a:cs typeface="Times New Roman"/>
              </a:rPr>
              <a:t>×</a:t>
            </a:r>
            <a:r>
              <a:rPr sz="800" i="1" spc="50" dirty="0">
                <a:solidFill>
                  <a:srgbClr val="153156"/>
                </a:solidFill>
                <a:latin typeface="Times New Roman"/>
                <a:cs typeface="Times New Roman"/>
              </a:rPr>
              <a:t> </a:t>
            </a:r>
            <a:r>
              <a:rPr sz="800" spc="135" dirty="0">
                <a:solidFill>
                  <a:srgbClr val="153156"/>
                </a:solidFill>
                <a:latin typeface="Calibri"/>
                <a:cs typeface="Calibri"/>
              </a:rPr>
              <a:t>BO</a:t>
            </a:r>
            <a:r>
              <a:rPr sz="8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85" dirty="0">
                <a:solidFill>
                  <a:srgbClr val="153156"/>
                </a:solidFill>
                <a:latin typeface="Calibri"/>
                <a:cs typeface="Calibri"/>
              </a:rPr>
              <a:t>Motors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1189" y="1697656"/>
            <a:ext cx="231954" cy="182612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656391" y="1728552"/>
            <a:ext cx="2940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5V</a:t>
            </a:r>
            <a:r>
              <a:rPr sz="500" spc="10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6B6E76"/>
                </a:solidFill>
                <a:latin typeface="Calibri"/>
                <a:cs typeface="Calibri"/>
              </a:rPr>
              <a:t>(reg.)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165935" y="2018841"/>
            <a:ext cx="241300" cy="27940"/>
            <a:chOff x="3927932" y="1929905"/>
            <a:chExt cx="241300" cy="27940"/>
          </a:xfrm>
        </p:grpSpPr>
        <p:sp>
          <p:nvSpPr>
            <p:cNvPr id="42" name="object 42"/>
            <p:cNvSpPr/>
            <p:nvPr/>
          </p:nvSpPr>
          <p:spPr>
            <a:xfrm>
              <a:off x="3950688" y="1943562"/>
              <a:ext cx="218440" cy="0"/>
            </a:xfrm>
            <a:custGeom>
              <a:avLst/>
              <a:gdLst/>
              <a:ahLst/>
              <a:cxnLst/>
              <a:rect l="l" t="t" r="r" b="b"/>
              <a:pathLst>
                <a:path w="218439">
                  <a:moveTo>
                    <a:pt x="217977" y="0"/>
                  </a:moveTo>
                  <a:lnTo>
                    <a:pt x="0" y="0"/>
                  </a:lnTo>
                </a:path>
              </a:pathLst>
            </a:custGeom>
            <a:ln w="11387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32202" y="1934175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24658" y="18773"/>
                  </a:moveTo>
                  <a:lnTo>
                    <a:pt x="16350" y="9386"/>
                  </a:lnTo>
                  <a:lnTo>
                    <a:pt x="24658" y="0"/>
                  </a:lnTo>
                  <a:lnTo>
                    <a:pt x="0" y="9386"/>
                  </a:lnTo>
                  <a:lnTo>
                    <a:pt x="24658" y="18773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32202" y="1934175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0" y="9386"/>
                  </a:moveTo>
                  <a:lnTo>
                    <a:pt x="24658" y="18773"/>
                  </a:lnTo>
                  <a:lnTo>
                    <a:pt x="16350" y="9386"/>
                  </a:lnTo>
                  <a:lnTo>
                    <a:pt x="24658" y="0"/>
                  </a:lnTo>
                  <a:lnTo>
                    <a:pt x="0" y="9386"/>
                  </a:lnTo>
                  <a:close/>
                </a:path>
              </a:pathLst>
            </a:custGeom>
            <a:ln w="8540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095813" y="1895697"/>
            <a:ext cx="3733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7.4V</a:t>
            </a:r>
            <a:r>
              <a:rPr sz="500" spc="4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500" spc="55" dirty="0">
                <a:solidFill>
                  <a:srgbClr val="6B6E76"/>
                </a:solidFill>
                <a:latin typeface="Calibri"/>
                <a:cs typeface="Calibri"/>
              </a:rPr>
              <a:t>power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4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Hardware:</a:t>
            </a:r>
            <a:r>
              <a:rPr spc="390" dirty="0"/>
              <a:t> </a:t>
            </a:r>
            <a:r>
              <a:rPr dirty="0"/>
              <a:t>Arduino</a:t>
            </a:r>
            <a:r>
              <a:rPr spc="225" dirty="0"/>
              <a:t> </a:t>
            </a:r>
            <a:r>
              <a:rPr dirty="0"/>
              <a:t>Uno</a:t>
            </a:r>
            <a:r>
              <a:rPr spc="235" dirty="0"/>
              <a:t> </a:t>
            </a:r>
            <a:r>
              <a:rPr dirty="0"/>
              <a:t>&amp;</a:t>
            </a:r>
            <a:r>
              <a:rPr spc="235" dirty="0"/>
              <a:t> </a:t>
            </a:r>
            <a:r>
              <a:rPr spc="55" dirty="0"/>
              <a:t>Sensors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683" y="536916"/>
            <a:ext cx="1391077" cy="9758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6341" y="1551978"/>
            <a:ext cx="224599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8970" marR="5080" indent="-636905">
              <a:lnSpc>
                <a:spcPct val="143200"/>
              </a:lnSpc>
              <a:spcBef>
                <a:spcPts val="100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Arduino</a:t>
            </a:r>
            <a:r>
              <a:rPr sz="8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Uno</a:t>
            </a:r>
            <a:r>
              <a:rPr sz="8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5" dirty="0">
                <a:solidFill>
                  <a:srgbClr val="6B6E76"/>
                </a:solidFill>
                <a:latin typeface="Calibri"/>
                <a:cs typeface="Calibri"/>
              </a:rPr>
              <a:t>—</a:t>
            </a:r>
            <a:r>
              <a:rPr sz="800" spc="7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ATmega328P,</a:t>
            </a:r>
            <a:r>
              <a:rPr sz="8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40" dirty="0">
                <a:solidFill>
                  <a:srgbClr val="6B6E76"/>
                </a:solidFill>
                <a:latin typeface="Calibri"/>
                <a:cs typeface="Calibri"/>
              </a:rPr>
              <a:t>16</a:t>
            </a:r>
            <a:r>
              <a:rPr sz="800" spc="-3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MHz,</a:t>
            </a:r>
            <a:r>
              <a:rPr sz="8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14</a:t>
            </a:r>
            <a:r>
              <a:rPr sz="800" spc="7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digital</a:t>
            </a:r>
            <a:r>
              <a:rPr sz="8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6B6E76"/>
                </a:solidFill>
                <a:latin typeface="Calibri"/>
                <a:cs typeface="Calibri"/>
              </a:rPr>
              <a:t>I/O</a:t>
            </a:r>
            <a:r>
              <a:rPr sz="800" spc="50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(6</a:t>
            </a:r>
            <a:r>
              <a:rPr sz="800" spc="9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6B6E76"/>
                </a:solidFill>
                <a:latin typeface="Calibri"/>
                <a:cs typeface="Calibri"/>
              </a:rPr>
              <a:t>PWM),</a:t>
            </a:r>
            <a:r>
              <a:rPr sz="8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6</a:t>
            </a:r>
            <a:r>
              <a:rPr sz="800" spc="9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analog</a:t>
            </a:r>
            <a:r>
              <a:rPr sz="800" spc="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6B6E76"/>
                </a:solidFill>
                <a:latin typeface="Calibri"/>
                <a:cs typeface="Calibri"/>
              </a:rPr>
              <a:t>in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859" y="2083629"/>
            <a:ext cx="677394" cy="4173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2640" y="2103506"/>
            <a:ext cx="817830" cy="2957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1010" y="2555240"/>
            <a:ext cx="221678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4225" marR="5080" indent="-772160">
              <a:lnSpc>
                <a:spcPct val="143200"/>
              </a:lnSpc>
              <a:spcBef>
                <a:spcPts val="100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HC-SR04</a:t>
            </a:r>
            <a:r>
              <a:rPr sz="800" spc="20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ultrasonic</a:t>
            </a:r>
            <a:r>
              <a:rPr sz="800" spc="20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sensor</a:t>
            </a:r>
            <a:r>
              <a:rPr sz="800" spc="20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(left)</a:t>
            </a:r>
            <a:r>
              <a:rPr sz="800" spc="20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and</a:t>
            </a:r>
            <a:r>
              <a:rPr sz="800" spc="20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IR</a:t>
            </a:r>
            <a:r>
              <a:rPr sz="800" spc="20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proximity</a:t>
            </a:r>
            <a:r>
              <a:rPr sz="800" spc="50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module</a:t>
            </a:r>
            <a:r>
              <a:rPr sz="800" spc="25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(right)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5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67304" y="459130"/>
            <a:ext cx="2347595" cy="97916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Arduino</a:t>
            </a:r>
            <a:r>
              <a:rPr sz="1000" spc="2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Uno</a:t>
            </a:r>
            <a:r>
              <a:rPr sz="1000" spc="2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board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Runs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control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loop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that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reads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every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sensor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and</a:t>
            </a:r>
            <a:r>
              <a:rPr sz="900" spc="2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regulates</a:t>
            </a:r>
            <a:r>
              <a:rPr sz="900" spc="229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229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actuators</a:t>
            </a:r>
            <a:r>
              <a:rPr sz="900" spc="229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each</a:t>
            </a:r>
            <a:r>
              <a:rPr sz="900" spc="229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cycle.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HC-</a:t>
            </a: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SR04</a:t>
            </a:r>
            <a:r>
              <a:rPr sz="1000" spc="3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ultrasonic</a:t>
            </a:r>
            <a:r>
              <a:rPr sz="1000" spc="30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40" dirty="0">
                <a:solidFill>
                  <a:srgbClr val="153156"/>
                </a:solidFill>
                <a:latin typeface="Calibri"/>
                <a:cs typeface="Calibri"/>
              </a:rPr>
              <a:t>sensor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Emits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40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kHz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pulses;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echo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time: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7980" y="1496296"/>
            <a:ext cx="9645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-37037" dirty="0">
                <a:solidFill>
                  <a:srgbClr val="2B2B2B"/>
                </a:solidFill>
                <a:latin typeface="Georgia"/>
                <a:cs typeface="Georgia"/>
              </a:rPr>
              <a:t>d</a:t>
            </a:r>
            <a:r>
              <a:rPr sz="1350" i="1" spc="60" baseline="-37037" dirty="0">
                <a:solidFill>
                  <a:srgbClr val="2B2B2B"/>
                </a:solidFill>
                <a:latin typeface="Georgia"/>
                <a:cs typeface="Georgia"/>
              </a:rPr>
              <a:t> </a:t>
            </a:r>
            <a:r>
              <a:rPr sz="1350" baseline="-37037" dirty="0">
                <a:solidFill>
                  <a:srgbClr val="2B2B2B"/>
                </a:solidFill>
                <a:latin typeface="Lucida Sans Unicode"/>
                <a:cs typeface="Lucida Sans Unicode"/>
              </a:rPr>
              <a:t>=</a:t>
            </a:r>
            <a:r>
              <a:rPr sz="1350" spc="157" baseline="-37037" dirty="0">
                <a:solidFill>
                  <a:srgbClr val="2B2B2B"/>
                </a:solidFill>
                <a:latin typeface="Lucida Sans Unicode"/>
                <a:cs typeface="Lucida Sans Unicode"/>
              </a:rPr>
              <a:t> </a:t>
            </a:r>
            <a:r>
              <a:rPr sz="900" i="1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Georgia"/>
                <a:cs typeface="Georgia"/>
              </a:rPr>
              <a:t>t</a:t>
            </a:r>
            <a:r>
              <a:rPr sz="900" i="1" u="sng" spc="-10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Georgia"/>
                <a:cs typeface="Georgia"/>
              </a:rPr>
              <a:t> </a:t>
            </a:r>
            <a:r>
              <a:rPr sz="900" i="1" u="sng" spc="100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Times New Roman"/>
                <a:cs typeface="Times New Roman"/>
              </a:rPr>
              <a:t>×</a:t>
            </a:r>
            <a:r>
              <a:rPr sz="900" i="1" u="sng" spc="-10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0</a:t>
            </a:r>
            <a:r>
              <a:rPr sz="900" i="1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Arial"/>
                <a:cs typeface="Arial"/>
              </a:rPr>
              <a:t>.</a:t>
            </a:r>
            <a:r>
              <a:rPr sz="900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034</a:t>
            </a:r>
            <a:r>
              <a:rPr sz="900" spc="1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37" baseline="-37037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endParaRPr sz="1350" baseline="-37037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7304" y="1593447"/>
            <a:ext cx="2437765" cy="11607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47320" algn="ctr">
              <a:lnSpc>
                <a:spcPct val="100000"/>
              </a:lnSpc>
              <a:spcBef>
                <a:spcPts val="520"/>
              </a:spcBef>
            </a:pPr>
            <a:r>
              <a:rPr sz="900" spc="-3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Range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2–400</a:t>
            </a:r>
            <a:r>
              <a:rPr sz="9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cm,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accuracy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±3</a:t>
            </a:r>
            <a:r>
              <a:rPr sz="9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mm.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IR</a:t>
            </a:r>
            <a:r>
              <a:rPr sz="1000" spc="25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proximity</a:t>
            </a:r>
            <a:r>
              <a:rPr sz="1000" spc="25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40" dirty="0">
                <a:solidFill>
                  <a:srgbClr val="153156"/>
                </a:solidFill>
                <a:latin typeface="Calibri"/>
                <a:cs typeface="Calibri"/>
              </a:rPr>
              <a:t>sensors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Dual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side-mounted</a:t>
            </a:r>
            <a:r>
              <a:rPr sz="900" spc="2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units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emit</a:t>
            </a:r>
            <a:r>
              <a:rPr sz="900" spc="2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2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light;</a:t>
            </a:r>
            <a:r>
              <a:rPr sz="9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reflection</a:t>
            </a:r>
            <a:r>
              <a:rPr sz="900" spc="2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lowers</a:t>
            </a:r>
            <a:r>
              <a:rPr sz="900" spc="2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photodiode</a:t>
            </a:r>
            <a:r>
              <a:rPr sz="900" spc="2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resistance,</a:t>
            </a:r>
            <a:r>
              <a:rPr sz="900" spc="2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driving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the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output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when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within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8</a:t>
            </a:r>
            <a:r>
              <a:rPr sz="90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cm.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Actuators</a:t>
            </a:r>
            <a:r>
              <a:rPr spc="190" dirty="0"/>
              <a:t> </a:t>
            </a:r>
            <a:r>
              <a:rPr dirty="0"/>
              <a:t>&amp;</a:t>
            </a:r>
            <a:r>
              <a:rPr spc="204" dirty="0"/>
              <a:t> </a:t>
            </a:r>
            <a:r>
              <a:rPr dirty="0"/>
              <a:t>Motor</a:t>
            </a:r>
            <a:r>
              <a:rPr spc="195" dirty="0"/>
              <a:t> </a:t>
            </a:r>
            <a:r>
              <a:rPr spc="-10" dirty="0"/>
              <a:t>Driver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00875"/>
            <a:ext cx="2797175" cy="220784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L298N</a:t>
            </a:r>
            <a:r>
              <a:rPr sz="1000" spc="1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H-</a:t>
            </a: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bridge</a:t>
            </a:r>
            <a:r>
              <a:rPr sz="1000" spc="1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driver</a:t>
            </a:r>
            <a:endParaRPr sz="1000" dirty="0">
              <a:latin typeface="Calibri"/>
              <a:cs typeface="Calibri"/>
            </a:endParaRPr>
          </a:p>
          <a:p>
            <a:pPr marL="12700" marR="7112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Switches</a:t>
            </a:r>
            <a:r>
              <a:rPr sz="900" spc="2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high-power</a:t>
            </a:r>
            <a:r>
              <a:rPr sz="900" spc="2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transistors</a:t>
            </a:r>
            <a:r>
              <a:rPr sz="900" spc="2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2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control</a:t>
            </a:r>
            <a:r>
              <a:rPr sz="900" spc="2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DC-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motor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speed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direction;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up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35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sz="9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per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channel.</a:t>
            </a:r>
            <a:r>
              <a:rPr sz="900" spc="2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Average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motor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voltage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set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by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PWM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Enable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pins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(ENA,</a:t>
            </a:r>
            <a:r>
              <a:rPr sz="9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ENB).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Brushed</a:t>
            </a:r>
            <a:r>
              <a:rPr sz="1000" spc="13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DC</a:t>
            </a:r>
            <a:r>
              <a:rPr sz="10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BO</a:t>
            </a:r>
            <a:r>
              <a:rPr sz="10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geared</a:t>
            </a:r>
            <a:r>
              <a:rPr sz="10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motors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Four</a:t>
            </a:r>
            <a:r>
              <a:rPr sz="9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motors,</a:t>
            </a:r>
            <a:r>
              <a:rPr sz="9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3–9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V</a:t>
            </a:r>
            <a:r>
              <a:rPr sz="9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operating</a:t>
            </a:r>
            <a:r>
              <a:rPr sz="9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range,</a:t>
            </a:r>
            <a:r>
              <a:rPr sz="9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br>
              <a:rPr lang="en-US" sz="900" spc="120" dirty="0">
                <a:solidFill>
                  <a:srgbClr val="2B2B2B"/>
                </a:solidFill>
                <a:latin typeface="Calibri"/>
                <a:cs typeface="Calibri"/>
              </a:rPr>
            </a:b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1:48</a:t>
            </a:r>
            <a:r>
              <a:rPr sz="9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gear</a:t>
            </a:r>
            <a:r>
              <a:rPr sz="9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reduction</a:t>
            </a:r>
            <a:r>
              <a:rPr lang="en-US" sz="900" spc="-10" dirty="0"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2B2B2B"/>
                </a:solidFill>
                <a:latin typeface="Times New Roman"/>
                <a:cs typeface="Times New Roman"/>
              </a:rPr>
              <a:t>→</a:t>
            </a:r>
            <a:r>
              <a:rPr sz="900" i="1" spc="60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900" spc="-30" dirty="0">
                <a:solidFill>
                  <a:srgbClr val="2B2B2B"/>
                </a:solidFill>
                <a:latin typeface="Calibri"/>
                <a:cs typeface="Calibri"/>
              </a:rPr>
              <a:t>150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RPM</a:t>
            </a:r>
            <a:r>
              <a:rPr sz="900" spc="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at</a:t>
            </a:r>
            <a:r>
              <a:rPr sz="90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6</a:t>
            </a:r>
            <a:r>
              <a:rPr sz="9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V</a:t>
            </a:r>
            <a:r>
              <a:rPr sz="90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900" spc="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high</a:t>
            </a:r>
            <a:r>
              <a:rPr sz="90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torque.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4WD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kinematics</a:t>
            </a:r>
            <a:endParaRPr sz="1000" dirty="0">
              <a:latin typeface="Calibri"/>
              <a:cs typeface="Calibri"/>
            </a:endParaRPr>
          </a:p>
          <a:p>
            <a:pPr marL="12700" marR="9080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Motors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wired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50" dirty="0">
                <a:solidFill>
                  <a:srgbClr val="2B2B2B"/>
                </a:solidFill>
                <a:latin typeface="Calibri"/>
                <a:cs typeface="Calibri"/>
              </a:rPr>
              <a:t>as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parallel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left/right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pairs.</a:t>
            </a:r>
            <a:r>
              <a:rPr sz="900" spc="3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Differential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speed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between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pairs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gives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forward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drive,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reverse,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and</a:t>
            </a:r>
            <a:r>
              <a:rPr sz="900" spc="1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pivot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turns.</a:t>
            </a:r>
            <a:endParaRPr sz="9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8338" y="575439"/>
            <a:ext cx="903169" cy="935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198" y="1657323"/>
            <a:ext cx="1090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L298N</a:t>
            </a:r>
            <a:r>
              <a:rPr sz="800" spc="19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H-bridge</a:t>
            </a:r>
            <a:r>
              <a:rPr sz="800" spc="20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module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3948" y="1917065"/>
            <a:ext cx="861375" cy="8343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21848" y="2841255"/>
            <a:ext cx="940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BO</a:t>
            </a:r>
            <a:r>
              <a:rPr sz="8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geared</a:t>
            </a:r>
            <a:r>
              <a:rPr sz="8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DC</a:t>
            </a:r>
            <a:r>
              <a:rPr sz="800" spc="11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motor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6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4568-4546-63DA-3762-756C6C4B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6" y="63700"/>
            <a:ext cx="2359660" cy="184666"/>
          </a:xfrm>
        </p:spPr>
        <p:txBody>
          <a:bodyPr/>
          <a:lstStyle/>
          <a:p>
            <a:r>
              <a:rPr lang="en-US" dirty="0"/>
              <a:t>Pin Configuration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5E3C0-74A8-2D62-6E7A-E26BFFD8EC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81" y="403225"/>
            <a:ext cx="4033838" cy="26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8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AE27-EFF5-5C73-8649-9743C28D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6" y="63700"/>
            <a:ext cx="2359660" cy="184666"/>
          </a:xfrm>
        </p:spPr>
        <p:txBody>
          <a:bodyPr/>
          <a:lstStyle/>
          <a:p>
            <a:r>
              <a:rPr lang="en-US" dirty="0"/>
              <a:t>Circuit Diagram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46308-4CA3-470C-08EA-AA707C259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61" y="403225"/>
            <a:ext cx="3952677" cy="277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Power</a:t>
            </a:r>
            <a:r>
              <a:rPr spc="100" dirty="0"/>
              <a:t> </a:t>
            </a:r>
            <a:r>
              <a:rPr spc="60" dirty="0"/>
              <a:t>Scheme</a:t>
            </a:r>
            <a:r>
              <a:rPr spc="110" dirty="0"/>
              <a:t> </a:t>
            </a:r>
            <a:r>
              <a:rPr dirty="0"/>
              <a:t>&amp;</a:t>
            </a:r>
            <a:r>
              <a:rPr spc="110" dirty="0"/>
              <a:t> </a:t>
            </a:r>
            <a:r>
              <a:rPr spc="55" dirty="0"/>
              <a:t>System</a:t>
            </a:r>
            <a:r>
              <a:rPr spc="105" dirty="0"/>
              <a:t> </a:t>
            </a:r>
            <a:r>
              <a:rPr spc="45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7027"/>
            <a:ext cx="2343785" cy="272305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The</a:t>
            </a:r>
            <a:r>
              <a:rPr sz="1000" spc="15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problem</a:t>
            </a:r>
            <a:endParaRPr sz="1000" dirty="0">
              <a:latin typeface="Calibri"/>
              <a:cs typeface="Calibri"/>
            </a:endParaRPr>
          </a:p>
          <a:p>
            <a:pPr marL="12700" marR="9080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High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DC-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motor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starting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current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pulls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battery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voltage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down,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resetting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microcontroller.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An</a:t>
            </a:r>
            <a:r>
              <a:rPr sz="9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earlier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prototype</a:t>
            </a:r>
            <a:r>
              <a:rPr sz="9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(with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servo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+</a:t>
            </a:r>
            <a:r>
              <a:rPr sz="9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OLED)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browned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out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during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active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scans.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The</a:t>
            </a:r>
            <a:r>
              <a:rPr sz="1000" spc="11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fix:</a:t>
            </a:r>
            <a:r>
              <a:rPr sz="1000" spc="229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split</a:t>
            </a:r>
            <a:r>
              <a:rPr sz="1000" spc="1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power</a:t>
            </a:r>
            <a:r>
              <a:rPr sz="1000" spc="11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153156"/>
                </a:solidFill>
                <a:latin typeface="Calibri"/>
                <a:cs typeface="Calibri"/>
              </a:rPr>
              <a:t>rails</a:t>
            </a:r>
            <a:endParaRPr sz="1000" dirty="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65" dirty="0">
                <a:solidFill>
                  <a:srgbClr val="2B2B2B"/>
                </a:solidFill>
                <a:latin typeface="Calibri"/>
                <a:cs typeface="Calibri"/>
              </a:rPr>
              <a:t>7.4V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pack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feeds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L298N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directly;</a:t>
            </a:r>
            <a:r>
              <a:rPr sz="9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driver’s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onboard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5V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regulator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powers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Arduino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separately,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so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motor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current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spikes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never</a:t>
            </a:r>
            <a:r>
              <a:rPr sz="9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touch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logic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rail.</a:t>
            </a:r>
            <a:r>
              <a:rPr sz="900" spc="2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All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grounds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tied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together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common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reference.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Outcome</a:t>
            </a:r>
            <a:endParaRPr sz="1000" dirty="0">
              <a:latin typeface="Calibri"/>
              <a:cs typeface="Calibri"/>
            </a:endParaRPr>
          </a:p>
          <a:p>
            <a:pPr marL="12700" marR="6286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Servo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OLED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were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dropped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final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build;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rail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split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alone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gave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stable,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continuous</a:t>
            </a:r>
            <a:r>
              <a:rPr sz="900" spc="4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operation.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04405" y="697363"/>
            <a:ext cx="1071245" cy="302260"/>
            <a:chOff x="3604405" y="697363"/>
            <a:chExt cx="1071245" cy="302260"/>
          </a:xfrm>
        </p:grpSpPr>
        <p:sp>
          <p:nvSpPr>
            <p:cNvPr id="5" name="object 5"/>
            <p:cNvSpPr/>
            <p:nvPr/>
          </p:nvSpPr>
          <p:spPr>
            <a:xfrm>
              <a:off x="3610120" y="703078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6"/>
                  </a:lnTo>
                  <a:lnTo>
                    <a:pt x="1035717" y="290576"/>
                  </a:lnTo>
                  <a:lnTo>
                    <a:pt x="1045070" y="288688"/>
                  </a:lnTo>
                  <a:lnTo>
                    <a:pt x="1052708" y="283538"/>
                  </a:lnTo>
                  <a:lnTo>
                    <a:pt x="1057858" y="275900"/>
                  </a:lnTo>
                  <a:lnTo>
                    <a:pt x="1059746" y="266547"/>
                  </a:lnTo>
                  <a:lnTo>
                    <a:pt x="1059746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solidFill>
              <a:srgbClr val="F9E7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0120" y="703078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6"/>
                  </a:lnTo>
                  <a:lnTo>
                    <a:pt x="1035717" y="290576"/>
                  </a:lnTo>
                  <a:lnTo>
                    <a:pt x="1045070" y="288688"/>
                  </a:lnTo>
                  <a:lnTo>
                    <a:pt x="1052708" y="283538"/>
                  </a:lnTo>
                  <a:lnTo>
                    <a:pt x="1057858" y="275900"/>
                  </a:lnTo>
                  <a:lnTo>
                    <a:pt x="1059746" y="266547"/>
                  </a:lnTo>
                  <a:lnTo>
                    <a:pt x="1059746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ln w="1081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24440" y="774151"/>
            <a:ext cx="64389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spc="-25" dirty="0">
                <a:solidFill>
                  <a:srgbClr val="153156"/>
                </a:solidFill>
                <a:latin typeface="Calibri"/>
                <a:cs typeface="Calibri"/>
              </a:rPr>
              <a:t>7.4V</a:t>
            </a:r>
            <a:r>
              <a:rPr sz="650" spc="114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Battery</a:t>
            </a:r>
            <a:r>
              <a:rPr sz="650" spc="1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spc="-20" dirty="0">
                <a:solidFill>
                  <a:srgbClr val="153156"/>
                </a:solidFill>
                <a:latin typeface="Calibri"/>
                <a:cs typeface="Calibri"/>
              </a:rPr>
              <a:t>Pack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8662" y="1312700"/>
            <a:ext cx="887992" cy="302260"/>
            <a:chOff x="2920699" y="1312700"/>
            <a:chExt cx="1071245" cy="302260"/>
          </a:xfrm>
        </p:grpSpPr>
        <p:sp>
          <p:nvSpPr>
            <p:cNvPr id="9" name="object 9"/>
            <p:cNvSpPr/>
            <p:nvPr/>
          </p:nvSpPr>
          <p:spPr>
            <a:xfrm>
              <a:off x="2926414" y="1318415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7"/>
                  </a:lnTo>
                  <a:lnTo>
                    <a:pt x="1035717" y="290577"/>
                  </a:lnTo>
                  <a:lnTo>
                    <a:pt x="1045070" y="288688"/>
                  </a:lnTo>
                  <a:lnTo>
                    <a:pt x="1052708" y="283538"/>
                  </a:lnTo>
                  <a:lnTo>
                    <a:pt x="1057858" y="275900"/>
                  </a:lnTo>
                  <a:lnTo>
                    <a:pt x="1059747" y="266547"/>
                  </a:lnTo>
                  <a:lnTo>
                    <a:pt x="1059747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6414" y="1318415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9"/>
                  </a:lnTo>
                  <a:lnTo>
                    <a:pt x="14676" y="288688"/>
                  </a:lnTo>
                  <a:lnTo>
                    <a:pt x="24029" y="290577"/>
                  </a:lnTo>
                  <a:lnTo>
                    <a:pt x="1035717" y="290577"/>
                  </a:lnTo>
                  <a:lnTo>
                    <a:pt x="1045070" y="288688"/>
                  </a:lnTo>
                  <a:lnTo>
                    <a:pt x="1052708" y="283539"/>
                  </a:lnTo>
                  <a:lnTo>
                    <a:pt x="1057858" y="275900"/>
                  </a:lnTo>
                  <a:lnTo>
                    <a:pt x="1059747" y="266547"/>
                  </a:lnTo>
                  <a:lnTo>
                    <a:pt x="1059747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ln w="1081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6175" y="1398781"/>
            <a:ext cx="4933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L298N</a:t>
            </a:r>
            <a:r>
              <a:rPr sz="650" spc="1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153156"/>
                </a:solidFill>
                <a:latin typeface="Calibri"/>
                <a:cs typeface="Calibri"/>
              </a:rPr>
              <a:t>Driver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10928" y="1312700"/>
            <a:ext cx="878518" cy="302260"/>
            <a:chOff x="4288111" y="1312700"/>
            <a:chExt cx="1071245" cy="302260"/>
          </a:xfrm>
        </p:grpSpPr>
        <p:sp>
          <p:nvSpPr>
            <p:cNvPr id="13" name="object 13"/>
            <p:cNvSpPr/>
            <p:nvPr/>
          </p:nvSpPr>
          <p:spPr>
            <a:xfrm>
              <a:off x="4293826" y="1318415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7"/>
                  </a:lnTo>
                  <a:lnTo>
                    <a:pt x="1035717" y="290577"/>
                  </a:lnTo>
                  <a:lnTo>
                    <a:pt x="1045070" y="288688"/>
                  </a:lnTo>
                  <a:lnTo>
                    <a:pt x="1052708" y="283538"/>
                  </a:lnTo>
                  <a:lnTo>
                    <a:pt x="1057858" y="275900"/>
                  </a:lnTo>
                  <a:lnTo>
                    <a:pt x="1059747" y="266547"/>
                  </a:lnTo>
                  <a:lnTo>
                    <a:pt x="1059747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3826" y="1318415"/>
              <a:ext cx="1059815" cy="290830"/>
            </a:xfrm>
            <a:custGeom>
              <a:avLst/>
              <a:gdLst/>
              <a:ahLst/>
              <a:cxnLst/>
              <a:rect l="l" t="t" r="r" b="b"/>
              <a:pathLst>
                <a:path w="1059814" h="290830">
                  <a:moveTo>
                    <a:pt x="1035717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8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9"/>
                  </a:lnTo>
                  <a:lnTo>
                    <a:pt x="14676" y="288688"/>
                  </a:lnTo>
                  <a:lnTo>
                    <a:pt x="24029" y="290577"/>
                  </a:lnTo>
                  <a:lnTo>
                    <a:pt x="1035717" y="290577"/>
                  </a:lnTo>
                  <a:lnTo>
                    <a:pt x="1045070" y="288688"/>
                  </a:lnTo>
                  <a:lnTo>
                    <a:pt x="1052708" y="283539"/>
                  </a:lnTo>
                  <a:lnTo>
                    <a:pt x="1057858" y="275900"/>
                  </a:lnTo>
                  <a:lnTo>
                    <a:pt x="1059747" y="266547"/>
                  </a:lnTo>
                  <a:lnTo>
                    <a:pt x="1059747" y="24029"/>
                  </a:lnTo>
                  <a:lnTo>
                    <a:pt x="1057858" y="14676"/>
                  </a:lnTo>
                  <a:lnTo>
                    <a:pt x="1052708" y="7038"/>
                  </a:lnTo>
                  <a:lnTo>
                    <a:pt x="1045070" y="1888"/>
                  </a:lnTo>
                  <a:lnTo>
                    <a:pt x="1035717" y="0"/>
                  </a:lnTo>
                  <a:close/>
                </a:path>
              </a:pathLst>
            </a:custGeom>
            <a:ln w="1081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58273" y="1393475"/>
            <a:ext cx="74358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Arduino</a:t>
            </a:r>
            <a:r>
              <a:rPr sz="650" spc="18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Uno</a:t>
            </a:r>
            <a:r>
              <a:rPr sz="650" spc="18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153156"/>
                </a:solidFill>
                <a:latin typeface="Calibri"/>
                <a:cs typeface="Calibri"/>
              </a:rPr>
              <a:t>(logic)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06163" y="1928036"/>
            <a:ext cx="900430" cy="302260"/>
            <a:chOff x="3006163" y="1928036"/>
            <a:chExt cx="900430" cy="302260"/>
          </a:xfrm>
        </p:grpSpPr>
        <p:sp>
          <p:nvSpPr>
            <p:cNvPr id="17" name="object 17"/>
            <p:cNvSpPr/>
            <p:nvPr/>
          </p:nvSpPr>
          <p:spPr>
            <a:xfrm>
              <a:off x="3011878" y="1933751"/>
              <a:ext cx="889000" cy="290830"/>
            </a:xfrm>
            <a:custGeom>
              <a:avLst/>
              <a:gdLst/>
              <a:ahLst/>
              <a:cxnLst/>
              <a:rect l="l" t="t" r="r" b="b"/>
              <a:pathLst>
                <a:path w="889000" h="290830">
                  <a:moveTo>
                    <a:pt x="864790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7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6"/>
                  </a:lnTo>
                  <a:lnTo>
                    <a:pt x="864790" y="290576"/>
                  </a:lnTo>
                  <a:lnTo>
                    <a:pt x="874144" y="288688"/>
                  </a:lnTo>
                  <a:lnTo>
                    <a:pt x="881782" y="283538"/>
                  </a:lnTo>
                  <a:lnTo>
                    <a:pt x="886931" y="275900"/>
                  </a:lnTo>
                  <a:lnTo>
                    <a:pt x="888820" y="266547"/>
                  </a:lnTo>
                  <a:lnTo>
                    <a:pt x="888820" y="24029"/>
                  </a:lnTo>
                  <a:lnTo>
                    <a:pt x="886931" y="14676"/>
                  </a:lnTo>
                  <a:lnTo>
                    <a:pt x="881782" y="7037"/>
                  </a:lnTo>
                  <a:lnTo>
                    <a:pt x="874144" y="1888"/>
                  </a:lnTo>
                  <a:lnTo>
                    <a:pt x="864790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1878" y="1933751"/>
              <a:ext cx="889000" cy="290830"/>
            </a:xfrm>
            <a:custGeom>
              <a:avLst/>
              <a:gdLst/>
              <a:ahLst/>
              <a:cxnLst/>
              <a:rect l="l" t="t" r="r" b="b"/>
              <a:pathLst>
                <a:path w="889000" h="290830">
                  <a:moveTo>
                    <a:pt x="864790" y="0"/>
                  </a:moveTo>
                  <a:lnTo>
                    <a:pt x="24029" y="0"/>
                  </a:lnTo>
                  <a:lnTo>
                    <a:pt x="14676" y="1888"/>
                  </a:lnTo>
                  <a:lnTo>
                    <a:pt x="7038" y="7037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8" y="283538"/>
                  </a:lnTo>
                  <a:lnTo>
                    <a:pt x="14676" y="288688"/>
                  </a:lnTo>
                  <a:lnTo>
                    <a:pt x="24029" y="290576"/>
                  </a:lnTo>
                  <a:lnTo>
                    <a:pt x="864790" y="290576"/>
                  </a:lnTo>
                  <a:lnTo>
                    <a:pt x="874144" y="288688"/>
                  </a:lnTo>
                  <a:lnTo>
                    <a:pt x="881782" y="283538"/>
                  </a:lnTo>
                  <a:lnTo>
                    <a:pt x="886931" y="275900"/>
                  </a:lnTo>
                  <a:lnTo>
                    <a:pt x="888820" y="266547"/>
                  </a:lnTo>
                  <a:lnTo>
                    <a:pt x="888820" y="24029"/>
                  </a:lnTo>
                  <a:lnTo>
                    <a:pt x="886931" y="14676"/>
                  </a:lnTo>
                  <a:lnTo>
                    <a:pt x="881782" y="7037"/>
                  </a:lnTo>
                  <a:lnTo>
                    <a:pt x="874144" y="1888"/>
                  </a:lnTo>
                  <a:lnTo>
                    <a:pt x="864790" y="0"/>
                  </a:lnTo>
                  <a:close/>
                </a:path>
              </a:pathLst>
            </a:custGeom>
            <a:ln w="1081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15464" y="2014536"/>
            <a:ext cx="49466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Drive</a:t>
            </a:r>
            <a:r>
              <a:rPr sz="650" spc="17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153156"/>
                </a:solidFill>
                <a:latin typeface="Calibri"/>
                <a:cs typeface="Calibri"/>
              </a:rPr>
              <a:t>Motors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20870" y="1928036"/>
            <a:ext cx="900430" cy="302260"/>
            <a:chOff x="4373575" y="1928036"/>
            <a:chExt cx="900430" cy="302260"/>
          </a:xfrm>
        </p:grpSpPr>
        <p:sp>
          <p:nvSpPr>
            <p:cNvPr id="21" name="object 21"/>
            <p:cNvSpPr/>
            <p:nvPr/>
          </p:nvSpPr>
          <p:spPr>
            <a:xfrm>
              <a:off x="4379290" y="1933751"/>
              <a:ext cx="889000" cy="290830"/>
            </a:xfrm>
            <a:custGeom>
              <a:avLst/>
              <a:gdLst/>
              <a:ahLst/>
              <a:cxnLst/>
              <a:rect l="l" t="t" r="r" b="b"/>
              <a:pathLst>
                <a:path w="889000" h="290830">
                  <a:moveTo>
                    <a:pt x="864790" y="0"/>
                  </a:moveTo>
                  <a:lnTo>
                    <a:pt x="24029" y="0"/>
                  </a:lnTo>
                  <a:lnTo>
                    <a:pt x="14675" y="1888"/>
                  </a:lnTo>
                  <a:lnTo>
                    <a:pt x="7037" y="7037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7" y="283538"/>
                  </a:lnTo>
                  <a:lnTo>
                    <a:pt x="14675" y="288688"/>
                  </a:lnTo>
                  <a:lnTo>
                    <a:pt x="24029" y="290576"/>
                  </a:lnTo>
                  <a:lnTo>
                    <a:pt x="864790" y="290576"/>
                  </a:lnTo>
                  <a:lnTo>
                    <a:pt x="874144" y="288688"/>
                  </a:lnTo>
                  <a:lnTo>
                    <a:pt x="881782" y="283538"/>
                  </a:lnTo>
                  <a:lnTo>
                    <a:pt x="886931" y="275900"/>
                  </a:lnTo>
                  <a:lnTo>
                    <a:pt x="888820" y="266547"/>
                  </a:lnTo>
                  <a:lnTo>
                    <a:pt x="888820" y="24029"/>
                  </a:lnTo>
                  <a:lnTo>
                    <a:pt x="886931" y="14676"/>
                  </a:lnTo>
                  <a:lnTo>
                    <a:pt x="881782" y="7037"/>
                  </a:lnTo>
                  <a:lnTo>
                    <a:pt x="874144" y="1888"/>
                  </a:lnTo>
                  <a:lnTo>
                    <a:pt x="864790" y="0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79290" y="1933751"/>
              <a:ext cx="889000" cy="290830"/>
            </a:xfrm>
            <a:custGeom>
              <a:avLst/>
              <a:gdLst/>
              <a:ahLst/>
              <a:cxnLst/>
              <a:rect l="l" t="t" r="r" b="b"/>
              <a:pathLst>
                <a:path w="889000" h="290830">
                  <a:moveTo>
                    <a:pt x="864790" y="0"/>
                  </a:moveTo>
                  <a:lnTo>
                    <a:pt x="24029" y="0"/>
                  </a:lnTo>
                  <a:lnTo>
                    <a:pt x="14675" y="1888"/>
                  </a:lnTo>
                  <a:lnTo>
                    <a:pt x="7037" y="7037"/>
                  </a:lnTo>
                  <a:lnTo>
                    <a:pt x="1888" y="14676"/>
                  </a:lnTo>
                  <a:lnTo>
                    <a:pt x="0" y="24029"/>
                  </a:lnTo>
                  <a:lnTo>
                    <a:pt x="0" y="266547"/>
                  </a:lnTo>
                  <a:lnTo>
                    <a:pt x="1888" y="275900"/>
                  </a:lnTo>
                  <a:lnTo>
                    <a:pt x="7037" y="283538"/>
                  </a:lnTo>
                  <a:lnTo>
                    <a:pt x="14675" y="288688"/>
                  </a:lnTo>
                  <a:lnTo>
                    <a:pt x="24029" y="290576"/>
                  </a:lnTo>
                  <a:lnTo>
                    <a:pt x="864790" y="290576"/>
                  </a:lnTo>
                  <a:lnTo>
                    <a:pt x="874144" y="288688"/>
                  </a:lnTo>
                  <a:lnTo>
                    <a:pt x="881782" y="283538"/>
                  </a:lnTo>
                  <a:lnTo>
                    <a:pt x="886931" y="275900"/>
                  </a:lnTo>
                  <a:lnTo>
                    <a:pt x="888820" y="266547"/>
                  </a:lnTo>
                  <a:lnTo>
                    <a:pt x="888820" y="24029"/>
                  </a:lnTo>
                  <a:lnTo>
                    <a:pt x="886931" y="14676"/>
                  </a:lnTo>
                  <a:lnTo>
                    <a:pt x="881782" y="7037"/>
                  </a:lnTo>
                  <a:lnTo>
                    <a:pt x="874144" y="1888"/>
                  </a:lnTo>
                  <a:lnTo>
                    <a:pt x="864790" y="0"/>
                  </a:lnTo>
                  <a:close/>
                </a:path>
              </a:pathLst>
            </a:custGeom>
            <a:ln w="1081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88336" y="2004816"/>
            <a:ext cx="48387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153156"/>
                </a:solidFill>
                <a:latin typeface="Calibri"/>
                <a:cs typeface="Calibri"/>
              </a:rPr>
              <a:t>5V </a:t>
            </a:r>
            <a:r>
              <a:rPr sz="650" spc="-10" dirty="0">
                <a:solidFill>
                  <a:srgbClr val="153156"/>
                </a:solidFill>
                <a:latin typeface="Calibri"/>
                <a:cs typeface="Calibri"/>
              </a:rPr>
              <a:t>regulated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29376" y="993347"/>
            <a:ext cx="349250" cy="315595"/>
            <a:chOff x="3629376" y="993347"/>
            <a:chExt cx="349250" cy="315595"/>
          </a:xfrm>
        </p:grpSpPr>
        <p:sp>
          <p:nvSpPr>
            <p:cNvPr id="25" name="object 25"/>
            <p:cNvSpPr/>
            <p:nvPr/>
          </p:nvSpPr>
          <p:spPr>
            <a:xfrm>
              <a:off x="3656508" y="999062"/>
              <a:ext cx="316230" cy="284480"/>
            </a:xfrm>
            <a:custGeom>
              <a:avLst/>
              <a:gdLst/>
              <a:ahLst/>
              <a:cxnLst/>
              <a:rect l="l" t="t" r="r" b="b"/>
              <a:pathLst>
                <a:path w="316229" h="284480">
                  <a:moveTo>
                    <a:pt x="316085" y="0"/>
                  </a:moveTo>
                  <a:lnTo>
                    <a:pt x="0" y="284378"/>
                  </a:lnTo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35091" y="1265403"/>
              <a:ext cx="39370" cy="37465"/>
            </a:xfrm>
            <a:custGeom>
              <a:avLst/>
              <a:gdLst/>
              <a:ahLst/>
              <a:cxnLst/>
              <a:rect l="l" t="t" r="r" b="b"/>
              <a:pathLst>
                <a:path w="39370" h="37465">
                  <a:moveTo>
                    <a:pt x="39121" y="22135"/>
                  </a:moveTo>
                  <a:lnTo>
                    <a:pt x="19407" y="19844"/>
                  </a:lnTo>
                  <a:lnTo>
                    <a:pt x="19205" y="0"/>
                  </a:lnTo>
                  <a:lnTo>
                    <a:pt x="0" y="37306"/>
                  </a:lnTo>
                  <a:lnTo>
                    <a:pt x="39121" y="22135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5091" y="1265403"/>
              <a:ext cx="39370" cy="37465"/>
            </a:xfrm>
            <a:custGeom>
              <a:avLst/>
              <a:gdLst/>
              <a:ahLst/>
              <a:cxnLst/>
              <a:rect l="l" t="t" r="r" b="b"/>
              <a:pathLst>
                <a:path w="39370" h="37465">
                  <a:moveTo>
                    <a:pt x="0" y="37306"/>
                  </a:moveTo>
                  <a:lnTo>
                    <a:pt x="39121" y="22135"/>
                  </a:lnTo>
                  <a:lnTo>
                    <a:pt x="19407" y="19844"/>
                  </a:lnTo>
                  <a:lnTo>
                    <a:pt x="19205" y="0"/>
                  </a:lnTo>
                  <a:lnTo>
                    <a:pt x="0" y="37306"/>
                  </a:lnTo>
                  <a:close/>
                </a:path>
              </a:pathLst>
            </a:custGeom>
            <a:ln w="10812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450675" y="1104291"/>
            <a:ext cx="314960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50" spc="-20" dirty="0">
                <a:solidFill>
                  <a:srgbClr val="6B6E76"/>
                </a:solidFill>
                <a:latin typeface="Calibri"/>
                <a:cs typeface="Calibri"/>
              </a:rPr>
              <a:t>7.4V</a:t>
            </a:r>
            <a:r>
              <a:rPr sz="450" spc="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6B6E76"/>
                </a:solidFill>
                <a:latin typeface="Calibri"/>
                <a:cs typeface="Calibri"/>
              </a:rPr>
              <a:t>(direct)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985853" y="1443100"/>
            <a:ext cx="293370" cy="41275"/>
            <a:chOff x="3985853" y="1443100"/>
            <a:chExt cx="293370" cy="41275"/>
          </a:xfrm>
        </p:grpSpPr>
        <p:sp>
          <p:nvSpPr>
            <p:cNvPr id="30" name="object 30"/>
            <p:cNvSpPr/>
            <p:nvPr/>
          </p:nvSpPr>
          <p:spPr>
            <a:xfrm>
              <a:off x="3991568" y="1463703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29">
                  <a:moveTo>
                    <a:pt x="0" y="0"/>
                  </a:moveTo>
                  <a:lnTo>
                    <a:pt x="252643" y="0"/>
                  </a:lnTo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33791" y="1448815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0" y="0"/>
                  </a:moveTo>
                  <a:lnTo>
                    <a:pt x="13123" y="14888"/>
                  </a:lnTo>
                  <a:lnTo>
                    <a:pt x="0" y="29777"/>
                  </a:lnTo>
                  <a:lnTo>
                    <a:pt x="39230" y="14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33791" y="1448815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39230" y="14888"/>
                  </a:moveTo>
                  <a:lnTo>
                    <a:pt x="0" y="0"/>
                  </a:lnTo>
                  <a:lnTo>
                    <a:pt x="13123" y="14888"/>
                  </a:lnTo>
                  <a:lnTo>
                    <a:pt x="0" y="29777"/>
                  </a:lnTo>
                  <a:lnTo>
                    <a:pt x="39230" y="14888"/>
                  </a:lnTo>
                  <a:close/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932109" y="1333159"/>
            <a:ext cx="42862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onboard</a:t>
            </a:r>
            <a:r>
              <a:rPr sz="450" spc="12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5V</a:t>
            </a:r>
            <a:r>
              <a:rPr sz="450" spc="12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spc="-20" dirty="0">
                <a:solidFill>
                  <a:srgbClr val="6B6E76"/>
                </a:solidFill>
                <a:latin typeface="Calibri"/>
                <a:cs typeface="Calibri"/>
              </a:rPr>
              <a:t>reg.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35684" y="1608683"/>
            <a:ext cx="41275" cy="310515"/>
            <a:chOff x="3435684" y="1608683"/>
            <a:chExt cx="41275" cy="310515"/>
          </a:xfrm>
        </p:grpSpPr>
        <p:sp>
          <p:nvSpPr>
            <p:cNvPr id="35" name="object 35"/>
            <p:cNvSpPr/>
            <p:nvPr/>
          </p:nvSpPr>
          <p:spPr>
            <a:xfrm>
              <a:off x="3456288" y="1614398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737"/>
                  </a:lnTo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41399" y="1873715"/>
              <a:ext cx="29845" cy="39370"/>
            </a:xfrm>
            <a:custGeom>
              <a:avLst/>
              <a:gdLst/>
              <a:ahLst/>
              <a:cxnLst/>
              <a:rect l="l" t="t" r="r" b="b"/>
              <a:pathLst>
                <a:path w="29845" h="39369">
                  <a:moveTo>
                    <a:pt x="29777" y="0"/>
                  </a:moveTo>
                  <a:lnTo>
                    <a:pt x="14888" y="13123"/>
                  </a:lnTo>
                  <a:lnTo>
                    <a:pt x="0" y="0"/>
                  </a:lnTo>
                  <a:lnTo>
                    <a:pt x="14888" y="39230"/>
                  </a:lnTo>
                  <a:lnTo>
                    <a:pt x="29777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41399" y="1873715"/>
              <a:ext cx="29845" cy="39370"/>
            </a:xfrm>
            <a:custGeom>
              <a:avLst/>
              <a:gdLst/>
              <a:ahLst/>
              <a:cxnLst/>
              <a:rect l="l" t="t" r="r" b="b"/>
              <a:pathLst>
                <a:path w="29845" h="39369">
                  <a:moveTo>
                    <a:pt x="14888" y="39230"/>
                  </a:moveTo>
                  <a:lnTo>
                    <a:pt x="29777" y="0"/>
                  </a:lnTo>
                  <a:lnTo>
                    <a:pt x="14888" y="13123"/>
                  </a:lnTo>
                  <a:lnTo>
                    <a:pt x="0" y="0"/>
                  </a:lnTo>
                  <a:lnTo>
                    <a:pt x="14888" y="39230"/>
                  </a:lnTo>
                  <a:close/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84279" y="1715064"/>
            <a:ext cx="33972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high</a:t>
            </a:r>
            <a:r>
              <a:rPr sz="450" spc="15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6B6E76"/>
                </a:solidFill>
                <a:latin typeface="Calibri"/>
                <a:cs typeface="Calibri"/>
              </a:rPr>
              <a:t>current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803097" y="1608683"/>
            <a:ext cx="41275" cy="310515"/>
            <a:chOff x="4803097" y="1608683"/>
            <a:chExt cx="41275" cy="310515"/>
          </a:xfrm>
        </p:grpSpPr>
        <p:sp>
          <p:nvSpPr>
            <p:cNvPr id="40" name="object 40"/>
            <p:cNvSpPr/>
            <p:nvPr/>
          </p:nvSpPr>
          <p:spPr>
            <a:xfrm>
              <a:off x="4823700" y="1614398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737"/>
                  </a:lnTo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08812" y="1873715"/>
              <a:ext cx="29845" cy="39370"/>
            </a:xfrm>
            <a:custGeom>
              <a:avLst/>
              <a:gdLst/>
              <a:ahLst/>
              <a:cxnLst/>
              <a:rect l="l" t="t" r="r" b="b"/>
              <a:pathLst>
                <a:path w="29845" h="39369">
                  <a:moveTo>
                    <a:pt x="29777" y="0"/>
                  </a:moveTo>
                  <a:lnTo>
                    <a:pt x="14888" y="13123"/>
                  </a:lnTo>
                  <a:lnTo>
                    <a:pt x="0" y="0"/>
                  </a:lnTo>
                  <a:lnTo>
                    <a:pt x="14888" y="39230"/>
                  </a:lnTo>
                  <a:lnTo>
                    <a:pt x="29777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08812" y="1873715"/>
              <a:ext cx="29845" cy="39370"/>
            </a:xfrm>
            <a:custGeom>
              <a:avLst/>
              <a:gdLst/>
              <a:ahLst/>
              <a:cxnLst/>
              <a:rect l="l" t="t" r="r" b="b"/>
              <a:pathLst>
                <a:path w="29845" h="39369">
                  <a:moveTo>
                    <a:pt x="14888" y="39230"/>
                  </a:moveTo>
                  <a:lnTo>
                    <a:pt x="29777" y="0"/>
                  </a:lnTo>
                  <a:lnTo>
                    <a:pt x="14888" y="13123"/>
                  </a:lnTo>
                  <a:lnTo>
                    <a:pt x="0" y="0"/>
                  </a:lnTo>
                  <a:lnTo>
                    <a:pt x="14888" y="39230"/>
                  </a:lnTo>
                  <a:close/>
                </a:path>
              </a:pathLst>
            </a:custGeom>
            <a:ln w="1081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869157" y="1715064"/>
            <a:ext cx="299720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clean</a:t>
            </a:r>
            <a:r>
              <a:rPr sz="450" spc="1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6B6E76"/>
                </a:solidFill>
                <a:latin typeface="Calibri"/>
                <a:cs typeface="Calibri"/>
              </a:rPr>
              <a:t>logic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09321" y="574888"/>
            <a:ext cx="2461895" cy="1812289"/>
          </a:xfrm>
          <a:custGeom>
            <a:avLst/>
            <a:gdLst/>
            <a:ahLst/>
            <a:cxnLst/>
            <a:rect l="l" t="t" r="r" b="b"/>
            <a:pathLst>
              <a:path w="2461895" h="1812289">
                <a:moveTo>
                  <a:pt x="0" y="1811816"/>
                </a:moveTo>
                <a:lnTo>
                  <a:pt x="0" y="0"/>
                </a:lnTo>
                <a:lnTo>
                  <a:pt x="2461346" y="0"/>
                </a:lnTo>
                <a:lnTo>
                  <a:pt x="2461346" y="1811816"/>
                </a:lnTo>
                <a:lnTo>
                  <a:pt x="0" y="1811816"/>
                </a:lnTo>
                <a:close/>
              </a:path>
            </a:pathLst>
          </a:custGeom>
          <a:ln w="8410">
            <a:solidFill>
              <a:srgbClr val="6B6E76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750584" y="589936"/>
            <a:ext cx="73469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common</a:t>
            </a:r>
            <a:r>
              <a:rPr sz="450" spc="21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dirty="0">
                <a:solidFill>
                  <a:srgbClr val="6B6E76"/>
                </a:solidFill>
                <a:latin typeface="Calibri"/>
                <a:cs typeface="Calibri"/>
              </a:rPr>
              <a:t>ground</a:t>
            </a:r>
            <a:r>
              <a:rPr sz="450" spc="21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6B6E76"/>
                </a:solidFill>
                <a:latin typeface="Calibri"/>
                <a:cs typeface="Calibri"/>
              </a:rPr>
              <a:t>reference</a:t>
            </a:r>
            <a:endParaRPr sz="450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9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2881934" y="2451593"/>
            <a:ext cx="25165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Isolation</a:t>
            </a:r>
            <a:r>
              <a:rPr sz="800" spc="295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prevents</a:t>
            </a:r>
            <a:r>
              <a:rPr sz="800" spc="295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motor-current</a:t>
            </a:r>
            <a:r>
              <a:rPr sz="800" spc="295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spikes</a:t>
            </a:r>
            <a:r>
              <a:rPr sz="800" spc="295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from</a:t>
            </a:r>
            <a:r>
              <a:rPr sz="800" spc="295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B3452C"/>
                </a:solidFill>
                <a:latin typeface="Calibri"/>
                <a:cs typeface="Calibri"/>
              </a:rPr>
              <a:t>resetting</a:t>
            </a:r>
            <a:endParaRPr sz="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800" dirty="0">
                <a:solidFill>
                  <a:srgbClr val="B3452C"/>
                </a:solidFill>
                <a:latin typeface="Calibri"/>
                <a:cs typeface="Calibri"/>
              </a:rPr>
              <a:t>the</a:t>
            </a:r>
            <a:r>
              <a:rPr sz="800" spc="114" dirty="0">
                <a:solidFill>
                  <a:srgbClr val="B3452C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B3452C"/>
                </a:solidFill>
                <a:latin typeface="Calibri"/>
                <a:cs typeface="Calibri"/>
              </a:rPr>
              <a:t>MCU.</a:t>
            </a:r>
            <a:endParaRPr sz="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350" dirty="0"/>
              <a:t> </a:t>
            </a:r>
            <a:r>
              <a:rPr dirty="0"/>
              <a:t>Control</a:t>
            </a:r>
            <a:r>
              <a:rPr spc="35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06069"/>
            <a:ext cx="2028189" cy="23729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Control</a:t>
            </a:r>
            <a:r>
              <a:rPr sz="1000" spc="28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framework</a:t>
            </a:r>
            <a:endParaRPr sz="1000">
              <a:latin typeface="Calibri"/>
              <a:cs typeface="Calibri"/>
            </a:endParaRPr>
          </a:p>
          <a:p>
            <a:pPr marL="12700" marR="8953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Written</a:t>
            </a:r>
            <a:r>
              <a:rPr sz="900" spc="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9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C++</a:t>
            </a:r>
            <a:r>
              <a:rPr sz="9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(Arduino</a:t>
            </a:r>
            <a:r>
              <a:rPr sz="9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IDE</a:t>
            </a:r>
            <a:r>
              <a:rPr sz="9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2.x).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NewPing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library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gives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55" dirty="0">
                <a:solidFill>
                  <a:srgbClr val="2B2B2B"/>
                </a:solidFill>
                <a:latin typeface="Calibri"/>
                <a:cs typeface="Calibri"/>
              </a:rPr>
              <a:t>non-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blocking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acoustic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ranging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while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digital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pins</a:t>
            </a:r>
            <a:r>
              <a:rPr sz="9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polled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1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state.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Closed-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loop</a:t>
            </a:r>
            <a:r>
              <a:rPr sz="1000" spc="2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transitions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lateral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states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continually</a:t>
            </a:r>
            <a:r>
              <a:rPr sz="900" spc="3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re-evaluated,</a:t>
            </a:r>
            <a:r>
              <a:rPr sz="900" spc="3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triggering</a:t>
            </a:r>
            <a:r>
              <a:rPr sz="900" spc="3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one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of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five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direction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codes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each</a:t>
            </a:r>
            <a:r>
              <a:rPr sz="900" spc="1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cycle.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Speed</a:t>
            </a:r>
            <a:r>
              <a:rPr sz="1000" spc="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control</a:t>
            </a:r>
            <a:endParaRPr sz="1000">
              <a:latin typeface="Calibri"/>
              <a:cs typeface="Calibri"/>
            </a:endParaRPr>
          </a:p>
          <a:p>
            <a:pPr marL="12700" marR="10795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Follow</a:t>
            </a:r>
            <a:r>
              <a:rPr sz="900" spc="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envelope:</a:t>
            </a:r>
            <a:r>
              <a:rPr sz="900" spc="2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35" dirty="0">
                <a:solidFill>
                  <a:srgbClr val="2B2B2B"/>
                </a:solidFill>
                <a:latin typeface="Calibri"/>
                <a:cs typeface="Calibri"/>
              </a:rPr>
              <a:t>10–35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cm.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B2B2B"/>
                </a:solidFill>
                <a:latin typeface="Calibri"/>
                <a:cs typeface="Calibri"/>
              </a:rPr>
              <a:t>PWM</a:t>
            </a:r>
            <a:r>
              <a:rPr sz="900" spc="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modulated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(170/220)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9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to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slow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down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50" dirty="0">
                <a:solidFill>
                  <a:srgbClr val="2B2B2B"/>
                </a:solidFill>
                <a:latin typeface="Calibri"/>
                <a:cs typeface="Calibri"/>
              </a:rPr>
              <a:t>as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9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gets</a:t>
            </a:r>
            <a:r>
              <a:rPr sz="9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close.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02153" y="860425"/>
            <a:ext cx="734695" cy="241935"/>
            <a:chOff x="2577428" y="587717"/>
            <a:chExt cx="734695" cy="241935"/>
          </a:xfrm>
        </p:grpSpPr>
        <p:sp>
          <p:nvSpPr>
            <p:cNvPr id="5" name="object 5"/>
            <p:cNvSpPr/>
            <p:nvPr/>
          </p:nvSpPr>
          <p:spPr>
            <a:xfrm>
              <a:off x="2582191" y="592479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0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1273" y="116011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3793" y="116011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  <a:path w="725170" h="232409">
                  <a:moveTo>
                    <a:pt x="0" y="109702"/>
                  </a:moveTo>
                  <a:lnTo>
                    <a:pt x="0" y="122319"/>
                  </a:lnTo>
                  <a:lnTo>
                    <a:pt x="1273" y="116011"/>
                  </a:lnTo>
                  <a:lnTo>
                    <a:pt x="0" y="109702"/>
                  </a:lnTo>
                  <a:close/>
                </a:path>
                <a:path w="725170" h="232409">
                  <a:moveTo>
                    <a:pt x="725066" y="109702"/>
                  </a:moveTo>
                  <a:lnTo>
                    <a:pt x="723793" y="116011"/>
                  </a:lnTo>
                  <a:lnTo>
                    <a:pt x="725066" y="122319"/>
                  </a:lnTo>
                  <a:lnTo>
                    <a:pt x="725066" y="109702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2191" y="592479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0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09702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5066" y="109702"/>
                  </a:lnTo>
                  <a:lnTo>
                    <a:pt x="725066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ln w="917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48184" y="861188"/>
            <a:ext cx="242570" cy="213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marR="5080" indent="-3810">
              <a:lnSpc>
                <a:spcPct val="111900"/>
              </a:lnSpc>
              <a:spcBef>
                <a:spcPts val="95"/>
              </a:spcBef>
            </a:pP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Search</a:t>
            </a:r>
            <a:r>
              <a:rPr sz="550" spc="5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(pivot)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46251" y="860425"/>
            <a:ext cx="734695" cy="241935"/>
            <a:chOff x="3621526" y="587717"/>
            <a:chExt cx="734695" cy="241935"/>
          </a:xfrm>
        </p:grpSpPr>
        <p:sp>
          <p:nvSpPr>
            <p:cNvPr id="9" name="object 9"/>
            <p:cNvSpPr/>
            <p:nvPr/>
          </p:nvSpPr>
          <p:spPr>
            <a:xfrm>
              <a:off x="3626289" y="592479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0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1273" y="116011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3793" y="116011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  <a:path w="725170" h="232409">
                  <a:moveTo>
                    <a:pt x="0" y="109702"/>
                  </a:moveTo>
                  <a:lnTo>
                    <a:pt x="0" y="122319"/>
                  </a:lnTo>
                  <a:lnTo>
                    <a:pt x="1273" y="116011"/>
                  </a:lnTo>
                  <a:lnTo>
                    <a:pt x="0" y="109702"/>
                  </a:lnTo>
                  <a:close/>
                </a:path>
                <a:path w="725170" h="232409">
                  <a:moveTo>
                    <a:pt x="725066" y="109702"/>
                  </a:moveTo>
                  <a:lnTo>
                    <a:pt x="723793" y="116011"/>
                  </a:lnTo>
                  <a:lnTo>
                    <a:pt x="725066" y="122319"/>
                  </a:lnTo>
                  <a:lnTo>
                    <a:pt x="725066" y="109702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6289" y="592479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0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09702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5066" y="109702"/>
                  </a:lnTo>
                  <a:lnTo>
                    <a:pt x="725066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ln w="917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66021" y="868421"/>
            <a:ext cx="295275" cy="213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80">
              <a:lnSpc>
                <a:spcPct val="111900"/>
              </a:lnSpc>
              <a:spcBef>
                <a:spcPts val="95"/>
              </a:spcBef>
            </a:pP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Forward</a:t>
            </a:r>
            <a:r>
              <a:rPr sz="550" spc="5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10–35cm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56332" y="1916059"/>
            <a:ext cx="734695" cy="324485"/>
            <a:chOff x="3621526" y="1300590"/>
            <a:chExt cx="734695" cy="324485"/>
          </a:xfrm>
        </p:grpSpPr>
        <p:sp>
          <p:nvSpPr>
            <p:cNvPr id="13" name="object 13"/>
            <p:cNvSpPr/>
            <p:nvPr/>
          </p:nvSpPr>
          <p:spPr>
            <a:xfrm>
              <a:off x="3626289" y="1305353"/>
              <a:ext cx="725170" cy="314960"/>
            </a:xfrm>
            <a:custGeom>
              <a:avLst/>
              <a:gdLst/>
              <a:ahLst/>
              <a:cxnLst/>
              <a:rect l="l" t="t" r="r" b="b"/>
              <a:pathLst>
                <a:path w="725170" h="31495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92098"/>
                  </a:lnTo>
                  <a:lnTo>
                    <a:pt x="9612" y="239710"/>
                  </a:lnTo>
                  <a:lnTo>
                    <a:pt x="35826" y="278591"/>
                  </a:lnTo>
                  <a:lnTo>
                    <a:pt x="74706" y="304805"/>
                  </a:lnTo>
                  <a:lnTo>
                    <a:pt x="122319" y="314417"/>
                  </a:lnTo>
                  <a:lnTo>
                    <a:pt x="602747" y="314417"/>
                  </a:lnTo>
                  <a:lnTo>
                    <a:pt x="650360" y="304805"/>
                  </a:lnTo>
                  <a:lnTo>
                    <a:pt x="689240" y="278591"/>
                  </a:lnTo>
                  <a:lnTo>
                    <a:pt x="715454" y="239710"/>
                  </a:lnTo>
                  <a:lnTo>
                    <a:pt x="725066" y="192098"/>
                  </a:lnTo>
                  <a:lnTo>
                    <a:pt x="725066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solidFill>
              <a:srgbClr val="F3E3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26289" y="1305353"/>
              <a:ext cx="725170" cy="314960"/>
            </a:xfrm>
            <a:custGeom>
              <a:avLst/>
              <a:gdLst/>
              <a:ahLst/>
              <a:cxnLst/>
              <a:rect l="l" t="t" r="r" b="b"/>
              <a:pathLst>
                <a:path w="725170" h="314959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92098"/>
                  </a:lnTo>
                  <a:lnTo>
                    <a:pt x="9612" y="239710"/>
                  </a:lnTo>
                  <a:lnTo>
                    <a:pt x="35826" y="278591"/>
                  </a:lnTo>
                  <a:lnTo>
                    <a:pt x="74706" y="304805"/>
                  </a:lnTo>
                  <a:lnTo>
                    <a:pt x="122319" y="314417"/>
                  </a:lnTo>
                  <a:lnTo>
                    <a:pt x="602747" y="314417"/>
                  </a:lnTo>
                  <a:lnTo>
                    <a:pt x="650360" y="304805"/>
                  </a:lnTo>
                  <a:lnTo>
                    <a:pt x="689240" y="278591"/>
                  </a:lnTo>
                  <a:lnTo>
                    <a:pt x="715454" y="239710"/>
                  </a:lnTo>
                  <a:lnTo>
                    <a:pt x="725066" y="192098"/>
                  </a:lnTo>
                  <a:lnTo>
                    <a:pt x="725066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ln w="9173">
              <a:solidFill>
                <a:srgbClr val="B34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22717" y="1924632"/>
            <a:ext cx="39179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545" marR="5080" indent="-30480">
              <a:lnSpc>
                <a:spcPct val="111900"/>
              </a:lnSpc>
              <a:spcBef>
                <a:spcPts val="95"/>
              </a:spcBef>
            </a:pPr>
            <a:r>
              <a:rPr sz="550" dirty="0">
                <a:solidFill>
                  <a:srgbClr val="153156"/>
                </a:solidFill>
                <a:latin typeface="Calibri"/>
                <a:cs typeface="Calibri"/>
              </a:rPr>
              <a:t>Safety</a:t>
            </a:r>
            <a:r>
              <a:rPr sz="550" spc="19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20" dirty="0">
                <a:solidFill>
                  <a:srgbClr val="153156"/>
                </a:solidFill>
                <a:latin typeface="Calibri"/>
                <a:cs typeface="Calibri"/>
              </a:rPr>
              <a:t>Stop</a:t>
            </a:r>
            <a:r>
              <a:rPr sz="550" spc="50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550" spc="5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Backup</a:t>
            </a:r>
            <a:endParaRPr sz="550" dirty="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80"/>
              </a:spcBef>
            </a:pPr>
            <a:r>
              <a:rPr sz="550" i="1" spc="-10" dirty="0">
                <a:solidFill>
                  <a:srgbClr val="153156"/>
                </a:solidFill>
                <a:latin typeface="Verdana"/>
                <a:cs typeface="Verdana"/>
              </a:rPr>
              <a:t>&lt;</a:t>
            </a: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10cm</a:t>
            </a:r>
            <a:endParaRPr sz="55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02153" y="2310558"/>
            <a:ext cx="734695" cy="241935"/>
            <a:chOff x="2577428" y="2037850"/>
            <a:chExt cx="734695" cy="241935"/>
          </a:xfrm>
        </p:grpSpPr>
        <p:sp>
          <p:nvSpPr>
            <p:cNvPr id="17" name="object 17"/>
            <p:cNvSpPr/>
            <p:nvPr/>
          </p:nvSpPr>
          <p:spPr>
            <a:xfrm>
              <a:off x="2582191" y="2042613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10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1273" y="116011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3793" y="116011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  <a:path w="725170" h="232410">
                  <a:moveTo>
                    <a:pt x="0" y="109702"/>
                  </a:moveTo>
                  <a:lnTo>
                    <a:pt x="0" y="122319"/>
                  </a:lnTo>
                  <a:lnTo>
                    <a:pt x="1273" y="116011"/>
                  </a:lnTo>
                  <a:lnTo>
                    <a:pt x="0" y="109702"/>
                  </a:lnTo>
                  <a:close/>
                </a:path>
                <a:path w="725170" h="232410">
                  <a:moveTo>
                    <a:pt x="725066" y="109702"/>
                  </a:moveTo>
                  <a:lnTo>
                    <a:pt x="723793" y="116011"/>
                  </a:lnTo>
                  <a:lnTo>
                    <a:pt x="725066" y="122319"/>
                  </a:lnTo>
                  <a:lnTo>
                    <a:pt x="725066" y="109702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2191" y="2042613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10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09702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5066" y="109702"/>
                  </a:lnTo>
                  <a:lnTo>
                    <a:pt x="725066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ln w="917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01917" y="2373614"/>
            <a:ext cx="335280" cy="111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dirty="0">
                <a:solidFill>
                  <a:srgbClr val="153156"/>
                </a:solidFill>
                <a:latin typeface="Calibri"/>
                <a:cs typeface="Calibri"/>
              </a:rPr>
              <a:t>Steer</a:t>
            </a:r>
            <a:r>
              <a:rPr sz="550" spc="15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20" dirty="0">
                <a:solidFill>
                  <a:srgbClr val="153156"/>
                </a:solidFill>
                <a:latin typeface="Calibri"/>
                <a:cs typeface="Calibri"/>
              </a:rPr>
              <a:t>Left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90345" y="2310558"/>
            <a:ext cx="734695" cy="241935"/>
            <a:chOff x="4665620" y="2037850"/>
            <a:chExt cx="734695" cy="241935"/>
          </a:xfrm>
        </p:grpSpPr>
        <p:sp>
          <p:nvSpPr>
            <p:cNvPr id="21" name="object 21"/>
            <p:cNvSpPr/>
            <p:nvPr/>
          </p:nvSpPr>
          <p:spPr>
            <a:xfrm>
              <a:off x="4670382" y="2042613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10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1273" y="116011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3793" y="116011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  <a:path w="725170" h="232410">
                  <a:moveTo>
                    <a:pt x="0" y="109702"/>
                  </a:moveTo>
                  <a:lnTo>
                    <a:pt x="0" y="122319"/>
                  </a:lnTo>
                  <a:lnTo>
                    <a:pt x="1273" y="116011"/>
                  </a:lnTo>
                  <a:lnTo>
                    <a:pt x="0" y="109702"/>
                  </a:lnTo>
                  <a:close/>
                </a:path>
                <a:path w="725170" h="232410">
                  <a:moveTo>
                    <a:pt x="725067" y="109702"/>
                  </a:moveTo>
                  <a:lnTo>
                    <a:pt x="723793" y="116011"/>
                  </a:lnTo>
                  <a:lnTo>
                    <a:pt x="725067" y="122319"/>
                  </a:lnTo>
                  <a:lnTo>
                    <a:pt x="725067" y="109702"/>
                  </a:lnTo>
                  <a:close/>
                </a:path>
              </a:pathLst>
            </a:custGeom>
            <a:solidFill>
              <a:srgbClr val="EF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70382" y="2042613"/>
              <a:ext cx="725170" cy="232410"/>
            </a:xfrm>
            <a:custGeom>
              <a:avLst/>
              <a:gdLst/>
              <a:ahLst/>
              <a:cxnLst/>
              <a:rect l="l" t="t" r="r" b="b"/>
              <a:pathLst>
                <a:path w="725170" h="232410">
                  <a:moveTo>
                    <a:pt x="602747" y="0"/>
                  </a:moveTo>
                  <a:lnTo>
                    <a:pt x="122319" y="0"/>
                  </a:lnTo>
                  <a:lnTo>
                    <a:pt x="74706" y="9612"/>
                  </a:lnTo>
                  <a:lnTo>
                    <a:pt x="35826" y="35826"/>
                  </a:lnTo>
                  <a:lnTo>
                    <a:pt x="9612" y="74706"/>
                  </a:lnTo>
                  <a:lnTo>
                    <a:pt x="0" y="122319"/>
                  </a:lnTo>
                  <a:lnTo>
                    <a:pt x="0" y="109702"/>
                  </a:lnTo>
                  <a:lnTo>
                    <a:pt x="9612" y="157315"/>
                  </a:lnTo>
                  <a:lnTo>
                    <a:pt x="35826" y="196196"/>
                  </a:lnTo>
                  <a:lnTo>
                    <a:pt x="74706" y="222409"/>
                  </a:lnTo>
                  <a:lnTo>
                    <a:pt x="122319" y="232022"/>
                  </a:lnTo>
                  <a:lnTo>
                    <a:pt x="602747" y="232022"/>
                  </a:lnTo>
                  <a:lnTo>
                    <a:pt x="650360" y="222409"/>
                  </a:lnTo>
                  <a:lnTo>
                    <a:pt x="689240" y="196196"/>
                  </a:lnTo>
                  <a:lnTo>
                    <a:pt x="715454" y="157315"/>
                  </a:lnTo>
                  <a:lnTo>
                    <a:pt x="725067" y="109702"/>
                  </a:lnTo>
                  <a:lnTo>
                    <a:pt x="725067" y="122319"/>
                  </a:lnTo>
                  <a:lnTo>
                    <a:pt x="715454" y="74706"/>
                  </a:lnTo>
                  <a:lnTo>
                    <a:pt x="689240" y="35826"/>
                  </a:lnTo>
                  <a:lnTo>
                    <a:pt x="650360" y="9612"/>
                  </a:lnTo>
                  <a:lnTo>
                    <a:pt x="602747" y="0"/>
                  </a:lnTo>
                  <a:close/>
                </a:path>
              </a:pathLst>
            </a:custGeom>
            <a:ln w="9173">
              <a:solidFill>
                <a:srgbClr val="153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67703" y="2367506"/>
            <a:ext cx="380365" cy="111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dirty="0">
                <a:solidFill>
                  <a:srgbClr val="153156"/>
                </a:solidFill>
                <a:latin typeface="Calibri"/>
                <a:cs typeface="Calibri"/>
              </a:rPr>
              <a:t>Steer</a:t>
            </a:r>
            <a:r>
              <a:rPr sz="550" spc="15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550" spc="-10" dirty="0">
                <a:solidFill>
                  <a:srgbClr val="153156"/>
                </a:solidFill>
                <a:latin typeface="Calibri"/>
                <a:cs typeface="Calibri"/>
              </a:rPr>
              <a:t>Right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31807" y="963804"/>
            <a:ext cx="306705" cy="34925"/>
            <a:chOff x="3307082" y="691096"/>
            <a:chExt cx="306705" cy="34925"/>
          </a:xfrm>
        </p:grpSpPr>
        <p:sp>
          <p:nvSpPr>
            <p:cNvPr id="25" name="object 25"/>
            <p:cNvSpPr/>
            <p:nvPr/>
          </p:nvSpPr>
          <p:spPr>
            <a:xfrm>
              <a:off x="3311844" y="708490"/>
              <a:ext cx="272415" cy="0"/>
            </a:xfrm>
            <a:custGeom>
              <a:avLst/>
              <a:gdLst/>
              <a:ahLst/>
              <a:cxnLst/>
              <a:rect l="l" t="t" r="r" b="b"/>
              <a:pathLst>
                <a:path w="272414">
                  <a:moveTo>
                    <a:pt x="0" y="0"/>
                  </a:moveTo>
                  <a:lnTo>
                    <a:pt x="272350" y="0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75354" y="695859"/>
              <a:ext cx="33655" cy="25400"/>
            </a:xfrm>
            <a:custGeom>
              <a:avLst/>
              <a:gdLst/>
              <a:ahLst/>
              <a:cxnLst/>
              <a:rect l="l" t="t" r="r" b="b"/>
              <a:pathLst>
                <a:path w="33654" h="25400">
                  <a:moveTo>
                    <a:pt x="0" y="0"/>
                  </a:moveTo>
                  <a:lnTo>
                    <a:pt x="11133" y="12631"/>
                  </a:lnTo>
                  <a:lnTo>
                    <a:pt x="0" y="25262"/>
                  </a:lnTo>
                  <a:lnTo>
                    <a:pt x="33283" y="12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75354" y="695859"/>
              <a:ext cx="33655" cy="25400"/>
            </a:xfrm>
            <a:custGeom>
              <a:avLst/>
              <a:gdLst/>
              <a:ahLst/>
              <a:cxnLst/>
              <a:rect l="l" t="t" r="r" b="b"/>
              <a:pathLst>
                <a:path w="33654" h="25400">
                  <a:moveTo>
                    <a:pt x="33283" y="12631"/>
                  </a:moveTo>
                  <a:lnTo>
                    <a:pt x="0" y="0"/>
                  </a:lnTo>
                  <a:lnTo>
                    <a:pt x="11133" y="12631"/>
                  </a:lnTo>
                  <a:lnTo>
                    <a:pt x="0" y="25262"/>
                  </a:lnTo>
                  <a:lnTo>
                    <a:pt x="33283" y="12631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38287" y="868523"/>
            <a:ext cx="30670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target</a:t>
            </a:r>
            <a:r>
              <a:rPr sz="400" spc="7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spc="-20" dirty="0">
                <a:solidFill>
                  <a:srgbClr val="6B6E76"/>
                </a:solidFill>
                <a:latin typeface="Calibri"/>
                <a:cs typeface="Calibri"/>
              </a:rPr>
              <a:t>found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74425" y="1097034"/>
            <a:ext cx="80335" cy="807972"/>
            <a:chOff x="3971428" y="824326"/>
            <a:chExt cx="34925" cy="468630"/>
          </a:xfrm>
        </p:grpSpPr>
        <p:sp>
          <p:nvSpPr>
            <p:cNvPr id="30" name="object 30"/>
            <p:cNvSpPr/>
            <p:nvPr/>
          </p:nvSpPr>
          <p:spPr>
            <a:xfrm>
              <a:off x="3988822" y="829088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40">
                  <a:moveTo>
                    <a:pt x="0" y="0"/>
                  </a:moveTo>
                  <a:lnTo>
                    <a:pt x="0" y="434171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76191" y="1254419"/>
              <a:ext cx="25400" cy="33655"/>
            </a:xfrm>
            <a:custGeom>
              <a:avLst/>
              <a:gdLst/>
              <a:ahLst/>
              <a:cxnLst/>
              <a:rect l="l" t="t" r="r" b="b"/>
              <a:pathLst>
                <a:path w="25400" h="33655">
                  <a:moveTo>
                    <a:pt x="25262" y="0"/>
                  </a:moveTo>
                  <a:lnTo>
                    <a:pt x="12631" y="11133"/>
                  </a:lnTo>
                  <a:lnTo>
                    <a:pt x="0" y="0"/>
                  </a:lnTo>
                  <a:lnTo>
                    <a:pt x="12631" y="33283"/>
                  </a:lnTo>
                  <a:lnTo>
                    <a:pt x="25262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76191" y="1254419"/>
              <a:ext cx="25400" cy="33655"/>
            </a:xfrm>
            <a:custGeom>
              <a:avLst/>
              <a:gdLst/>
              <a:ahLst/>
              <a:cxnLst/>
              <a:rect l="l" t="t" r="r" b="b"/>
              <a:pathLst>
                <a:path w="25400" h="33655">
                  <a:moveTo>
                    <a:pt x="12631" y="33283"/>
                  </a:moveTo>
                  <a:lnTo>
                    <a:pt x="25262" y="0"/>
                  </a:lnTo>
                  <a:lnTo>
                    <a:pt x="12631" y="11133"/>
                  </a:lnTo>
                  <a:lnTo>
                    <a:pt x="0" y="0"/>
                  </a:lnTo>
                  <a:lnTo>
                    <a:pt x="12631" y="33283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351740" y="1313668"/>
            <a:ext cx="23304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too</a:t>
            </a:r>
            <a:r>
              <a:rPr sz="400" spc="4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6B6E76"/>
                </a:solidFill>
                <a:latin typeface="Calibri"/>
                <a:cs typeface="Calibri"/>
              </a:rPr>
              <a:t>close</a:t>
            </a:r>
            <a:endParaRPr sz="4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214398" y="1097034"/>
            <a:ext cx="856615" cy="1206500"/>
            <a:chOff x="2989673" y="824326"/>
            <a:chExt cx="856615" cy="1206500"/>
          </a:xfrm>
        </p:grpSpPr>
        <p:sp>
          <p:nvSpPr>
            <p:cNvPr id="35" name="object 35"/>
            <p:cNvSpPr/>
            <p:nvPr/>
          </p:nvSpPr>
          <p:spPr>
            <a:xfrm>
              <a:off x="3003249" y="829088"/>
              <a:ext cx="838200" cy="1174115"/>
            </a:xfrm>
            <a:custGeom>
              <a:avLst/>
              <a:gdLst/>
              <a:ahLst/>
              <a:cxnLst/>
              <a:rect l="l" t="t" r="r" b="b"/>
              <a:pathLst>
                <a:path w="838200" h="1174114">
                  <a:moveTo>
                    <a:pt x="838177" y="0"/>
                  </a:moveTo>
                  <a:lnTo>
                    <a:pt x="793183" y="38001"/>
                  </a:lnTo>
                  <a:lnTo>
                    <a:pt x="749803" y="75557"/>
                  </a:lnTo>
                  <a:lnTo>
                    <a:pt x="707985" y="112736"/>
                  </a:lnTo>
                  <a:lnTo>
                    <a:pt x="667678" y="149608"/>
                  </a:lnTo>
                  <a:lnTo>
                    <a:pt x="628829" y="186242"/>
                  </a:lnTo>
                  <a:lnTo>
                    <a:pt x="591388" y="222707"/>
                  </a:lnTo>
                  <a:lnTo>
                    <a:pt x="555303" y="259071"/>
                  </a:lnTo>
                  <a:lnTo>
                    <a:pt x="520522" y="295405"/>
                  </a:lnTo>
                  <a:lnTo>
                    <a:pt x="486993" y="331777"/>
                  </a:lnTo>
                  <a:lnTo>
                    <a:pt x="454665" y="368257"/>
                  </a:lnTo>
                  <a:lnTo>
                    <a:pt x="423487" y="404913"/>
                  </a:lnTo>
                  <a:lnTo>
                    <a:pt x="393406" y="441814"/>
                  </a:lnTo>
                  <a:lnTo>
                    <a:pt x="364372" y="479031"/>
                  </a:lnTo>
                  <a:lnTo>
                    <a:pt x="336332" y="516631"/>
                  </a:lnTo>
                  <a:lnTo>
                    <a:pt x="309235" y="554685"/>
                  </a:lnTo>
                  <a:lnTo>
                    <a:pt x="283030" y="593261"/>
                  </a:lnTo>
                  <a:lnTo>
                    <a:pt x="257664" y="632428"/>
                  </a:lnTo>
                  <a:lnTo>
                    <a:pt x="233087" y="672255"/>
                  </a:lnTo>
                  <a:lnTo>
                    <a:pt x="209246" y="712813"/>
                  </a:lnTo>
                  <a:lnTo>
                    <a:pt x="186090" y="754169"/>
                  </a:lnTo>
                  <a:lnTo>
                    <a:pt x="163568" y="796393"/>
                  </a:lnTo>
                  <a:lnTo>
                    <a:pt x="141627" y="839554"/>
                  </a:lnTo>
                  <a:lnTo>
                    <a:pt x="120217" y="883721"/>
                  </a:lnTo>
                  <a:lnTo>
                    <a:pt x="99285" y="928964"/>
                  </a:lnTo>
                  <a:lnTo>
                    <a:pt x="78780" y="975351"/>
                  </a:lnTo>
                  <a:lnTo>
                    <a:pt x="58651" y="1022951"/>
                  </a:lnTo>
                  <a:lnTo>
                    <a:pt x="38845" y="1071835"/>
                  </a:lnTo>
                  <a:lnTo>
                    <a:pt x="19312" y="1122070"/>
                  </a:lnTo>
                  <a:lnTo>
                    <a:pt x="0" y="1173726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94436" y="1990166"/>
              <a:ext cx="24130" cy="36195"/>
            </a:xfrm>
            <a:custGeom>
              <a:avLst/>
              <a:gdLst/>
              <a:ahLst/>
              <a:cxnLst/>
              <a:rect l="l" t="t" r="r" b="b"/>
              <a:pathLst>
                <a:path w="24130" h="36194">
                  <a:moveTo>
                    <a:pt x="23716" y="8700"/>
                  </a:moveTo>
                  <a:lnTo>
                    <a:pt x="8024" y="14802"/>
                  </a:lnTo>
                  <a:lnTo>
                    <a:pt x="0" y="0"/>
                  </a:lnTo>
                  <a:lnTo>
                    <a:pt x="395" y="35596"/>
                  </a:lnTo>
                  <a:lnTo>
                    <a:pt x="23716" y="870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94436" y="1990166"/>
              <a:ext cx="24130" cy="36195"/>
            </a:xfrm>
            <a:custGeom>
              <a:avLst/>
              <a:gdLst/>
              <a:ahLst/>
              <a:cxnLst/>
              <a:rect l="l" t="t" r="r" b="b"/>
              <a:pathLst>
                <a:path w="24130" h="36194">
                  <a:moveTo>
                    <a:pt x="395" y="35596"/>
                  </a:moveTo>
                  <a:lnTo>
                    <a:pt x="23716" y="8700"/>
                  </a:lnTo>
                  <a:lnTo>
                    <a:pt x="8024" y="14802"/>
                  </a:lnTo>
                  <a:lnTo>
                    <a:pt x="0" y="0"/>
                  </a:lnTo>
                  <a:lnTo>
                    <a:pt x="395" y="35596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363423" y="1596782"/>
            <a:ext cx="16002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left</a:t>
            </a:r>
            <a:r>
              <a:rPr sz="400" spc="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spc="-25" dirty="0">
                <a:solidFill>
                  <a:srgbClr val="6B6E76"/>
                </a:solidFill>
                <a:latin typeface="Calibri"/>
                <a:cs typeface="Calibri"/>
              </a:rPr>
              <a:t>IR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56179" y="1097034"/>
            <a:ext cx="856615" cy="1206500"/>
            <a:chOff x="4131454" y="824326"/>
            <a:chExt cx="856615" cy="1206500"/>
          </a:xfrm>
        </p:grpSpPr>
        <p:sp>
          <p:nvSpPr>
            <p:cNvPr id="40" name="object 40"/>
            <p:cNvSpPr/>
            <p:nvPr/>
          </p:nvSpPr>
          <p:spPr>
            <a:xfrm>
              <a:off x="4136216" y="829088"/>
              <a:ext cx="838200" cy="1174115"/>
            </a:xfrm>
            <a:custGeom>
              <a:avLst/>
              <a:gdLst/>
              <a:ahLst/>
              <a:cxnLst/>
              <a:rect l="l" t="t" r="r" b="b"/>
              <a:pathLst>
                <a:path w="838200" h="1174114">
                  <a:moveTo>
                    <a:pt x="0" y="0"/>
                  </a:moveTo>
                  <a:lnTo>
                    <a:pt x="44993" y="38001"/>
                  </a:lnTo>
                  <a:lnTo>
                    <a:pt x="88374" y="75557"/>
                  </a:lnTo>
                  <a:lnTo>
                    <a:pt x="130192" y="112736"/>
                  </a:lnTo>
                  <a:lnTo>
                    <a:pt x="170499" y="149608"/>
                  </a:lnTo>
                  <a:lnTo>
                    <a:pt x="209347" y="186242"/>
                  </a:lnTo>
                  <a:lnTo>
                    <a:pt x="246788" y="222707"/>
                  </a:lnTo>
                  <a:lnTo>
                    <a:pt x="282874" y="259071"/>
                  </a:lnTo>
                  <a:lnTo>
                    <a:pt x="317655" y="295405"/>
                  </a:lnTo>
                  <a:lnTo>
                    <a:pt x="351183" y="331777"/>
                  </a:lnTo>
                  <a:lnTo>
                    <a:pt x="383511" y="368257"/>
                  </a:lnTo>
                  <a:lnTo>
                    <a:pt x="414689" y="404913"/>
                  </a:lnTo>
                  <a:lnTo>
                    <a:pt x="444769" y="441814"/>
                  </a:lnTo>
                  <a:lnTo>
                    <a:pt x="473803" y="479031"/>
                  </a:lnTo>
                  <a:lnTo>
                    <a:pt x="501843" y="516631"/>
                  </a:lnTo>
                  <a:lnTo>
                    <a:pt x="528939" y="554685"/>
                  </a:lnTo>
                  <a:lnTo>
                    <a:pt x="555145" y="593261"/>
                  </a:lnTo>
                  <a:lnTo>
                    <a:pt x="580510" y="632428"/>
                  </a:lnTo>
                  <a:lnTo>
                    <a:pt x="605087" y="672255"/>
                  </a:lnTo>
                  <a:lnTo>
                    <a:pt x="628928" y="712813"/>
                  </a:lnTo>
                  <a:lnTo>
                    <a:pt x="652083" y="754169"/>
                  </a:lnTo>
                  <a:lnTo>
                    <a:pt x="674606" y="796393"/>
                  </a:lnTo>
                  <a:lnTo>
                    <a:pt x="696546" y="839554"/>
                  </a:lnTo>
                  <a:lnTo>
                    <a:pt x="717956" y="883721"/>
                  </a:lnTo>
                  <a:lnTo>
                    <a:pt x="738888" y="928964"/>
                  </a:lnTo>
                  <a:lnTo>
                    <a:pt x="759393" y="975351"/>
                  </a:lnTo>
                  <a:lnTo>
                    <a:pt x="779522" y="1022951"/>
                  </a:lnTo>
                  <a:lnTo>
                    <a:pt x="799327" y="1071835"/>
                  </a:lnTo>
                  <a:lnTo>
                    <a:pt x="818861" y="1122070"/>
                  </a:lnTo>
                  <a:lnTo>
                    <a:pt x="838173" y="1173726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59487" y="1990166"/>
              <a:ext cx="24130" cy="36195"/>
            </a:xfrm>
            <a:custGeom>
              <a:avLst/>
              <a:gdLst/>
              <a:ahLst/>
              <a:cxnLst/>
              <a:rect l="l" t="t" r="r" b="b"/>
              <a:pathLst>
                <a:path w="24129" h="36194">
                  <a:moveTo>
                    <a:pt x="23716" y="0"/>
                  </a:moveTo>
                  <a:lnTo>
                    <a:pt x="15692" y="14802"/>
                  </a:lnTo>
                  <a:lnTo>
                    <a:pt x="0" y="8700"/>
                  </a:lnTo>
                  <a:lnTo>
                    <a:pt x="23320" y="35596"/>
                  </a:lnTo>
                  <a:lnTo>
                    <a:pt x="23716" y="0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59487" y="1990166"/>
              <a:ext cx="24130" cy="36195"/>
            </a:xfrm>
            <a:custGeom>
              <a:avLst/>
              <a:gdLst/>
              <a:ahLst/>
              <a:cxnLst/>
              <a:rect l="l" t="t" r="r" b="b"/>
              <a:pathLst>
                <a:path w="24129" h="36194">
                  <a:moveTo>
                    <a:pt x="23320" y="35596"/>
                  </a:moveTo>
                  <a:lnTo>
                    <a:pt x="23716" y="0"/>
                  </a:lnTo>
                  <a:lnTo>
                    <a:pt x="15692" y="14802"/>
                  </a:lnTo>
                  <a:lnTo>
                    <a:pt x="0" y="8700"/>
                  </a:lnTo>
                  <a:lnTo>
                    <a:pt x="23320" y="35596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03920" y="1592096"/>
            <a:ext cx="18986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right</a:t>
            </a:r>
            <a:r>
              <a:rPr sz="400" spc="8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spc="-25" dirty="0">
                <a:solidFill>
                  <a:srgbClr val="6B6E76"/>
                </a:solidFill>
                <a:latin typeface="Calibri"/>
                <a:cs typeface="Calibri"/>
              </a:rPr>
              <a:t>IR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403235" y="1004855"/>
            <a:ext cx="756617" cy="906375"/>
            <a:chOff x="3210267" y="775172"/>
            <a:chExt cx="693420" cy="530860"/>
          </a:xfrm>
        </p:grpSpPr>
        <p:sp>
          <p:nvSpPr>
            <p:cNvPr id="45" name="object 45"/>
            <p:cNvSpPr/>
            <p:nvPr/>
          </p:nvSpPr>
          <p:spPr>
            <a:xfrm>
              <a:off x="3347775" y="789502"/>
              <a:ext cx="551180" cy="511809"/>
            </a:xfrm>
            <a:custGeom>
              <a:avLst/>
              <a:gdLst/>
              <a:ahLst/>
              <a:cxnLst/>
              <a:rect l="l" t="t" r="r" b="b"/>
              <a:pathLst>
                <a:path w="551179" h="511809">
                  <a:moveTo>
                    <a:pt x="550910" y="511263"/>
                  </a:moveTo>
                  <a:lnTo>
                    <a:pt x="527549" y="460022"/>
                  </a:lnTo>
                  <a:lnTo>
                    <a:pt x="502951" y="411710"/>
                  </a:lnTo>
                  <a:lnTo>
                    <a:pt x="477064" y="366251"/>
                  </a:lnTo>
                  <a:lnTo>
                    <a:pt x="449838" y="323567"/>
                  </a:lnTo>
                  <a:lnTo>
                    <a:pt x="421220" y="283583"/>
                  </a:lnTo>
                  <a:lnTo>
                    <a:pt x="391160" y="246221"/>
                  </a:lnTo>
                  <a:lnTo>
                    <a:pt x="359607" y="211405"/>
                  </a:lnTo>
                  <a:lnTo>
                    <a:pt x="326510" y="179059"/>
                  </a:lnTo>
                  <a:lnTo>
                    <a:pt x="291817" y="149106"/>
                  </a:lnTo>
                  <a:lnTo>
                    <a:pt x="255478" y="121469"/>
                  </a:lnTo>
                  <a:lnTo>
                    <a:pt x="217440" y="96072"/>
                  </a:lnTo>
                  <a:lnTo>
                    <a:pt x="177654" y="72837"/>
                  </a:lnTo>
                  <a:lnTo>
                    <a:pt x="136068" y="51690"/>
                  </a:lnTo>
                  <a:lnTo>
                    <a:pt x="92631" y="32552"/>
                  </a:lnTo>
                  <a:lnTo>
                    <a:pt x="47292" y="15347"/>
                  </a:lnTo>
                  <a:lnTo>
                    <a:pt x="0" y="0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24359" y="779935"/>
              <a:ext cx="35560" cy="24765"/>
            </a:xfrm>
            <a:custGeom>
              <a:avLst/>
              <a:gdLst/>
              <a:ahLst/>
              <a:cxnLst/>
              <a:rect l="l" t="t" r="r" b="b"/>
              <a:pathLst>
                <a:path w="35560" h="24765">
                  <a:moveTo>
                    <a:pt x="28265" y="24201"/>
                  </a:moveTo>
                  <a:lnTo>
                    <a:pt x="21219" y="8910"/>
                  </a:lnTo>
                  <a:lnTo>
                    <a:pt x="35505" y="0"/>
                  </a:lnTo>
                  <a:lnTo>
                    <a:pt x="0" y="2562"/>
                  </a:lnTo>
                  <a:lnTo>
                    <a:pt x="28265" y="24201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24359" y="779935"/>
              <a:ext cx="35560" cy="24765"/>
            </a:xfrm>
            <a:custGeom>
              <a:avLst/>
              <a:gdLst/>
              <a:ahLst/>
              <a:cxnLst/>
              <a:rect l="l" t="t" r="r" b="b"/>
              <a:pathLst>
                <a:path w="35560" h="24765">
                  <a:moveTo>
                    <a:pt x="0" y="2562"/>
                  </a:moveTo>
                  <a:lnTo>
                    <a:pt x="28265" y="24201"/>
                  </a:lnTo>
                  <a:lnTo>
                    <a:pt x="21219" y="8910"/>
                  </a:lnTo>
                  <a:lnTo>
                    <a:pt x="35505" y="0"/>
                  </a:lnTo>
                  <a:lnTo>
                    <a:pt x="0" y="2562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37182" y="829088"/>
              <a:ext cx="493395" cy="67310"/>
            </a:xfrm>
            <a:custGeom>
              <a:avLst/>
              <a:gdLst/>
              <a:ahLst/>
              <a:cxnLst/>
              <a:rect l="l" t="t" r="r" b="b"/>
              <a:pathLst>
                <a:path w="493395" h="67309">
                  <a:moveTo>
                    <a:pt x="493174" y="0"/>
                  </a:moveTo>
                  <a:lnTo>
                    <a:pt x="438202" y="23474"/>
                  </a:lnTo>
                  <a:lnTo>
                    <a:pt x="384961" y="41830"/>
                  </a:lnTo>
                  <a:lnTo>
                    <a:pt x="333271" y="55163"/>
                  </a:lnTo>
                  <a:lnTo>
                    <a:pt x="282957" y="63569"/>
                  </a:lnTo>
                  <a:lnTo>
                    <a:pt x="233840" y="67143"/>
                  </a:lnTo>
                  <a:lnTo>
                    <a:pt x="185742" y="65978"/>
                  </a:lnTo>
                  <a:lnTo>
                    <a:pt x="138487" y="60172"/>
                  </a:lnTo>
                  <a:lnTo>
                    <a:pt x="91896" y="49818"/>
                  </a:lnTo>
                  <a:lnTo>
                    <a:pt x="45793" y="35013"/>
                  </a:lnTo>
                  <a:lnTo>
                    <a:pt x="0" y="15850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15029" y="834609"/>
              <a:ext cx="35560" cy="26034"/>
            </a:xfrm>
            <a:custGeom>
              <a:avLst/>
              <a:gdLst/>
              <a:ahLst/>
              <a:cxnLst/>
              <a:rect l="l" t="t" r="r" b="b"/>
              <a:pathLst>
                <a:path w="35560" h="26034">
                  <a:moveTo>
                    <a:pt x="24826" y="25513"/>
                  </a:moveTo>
                  <a:lnTo>
                    <a:pt x="20074" y="9360"/>
                  </a:lnTo>
                  <a:lnTo>
                    <a:pt x="35502" y="2617"/>
                  </a:lnTo>
                  <a:lnTo>
                    <a:pt x="0" y="0"/>
                  </a:lnTo>
                  <a:lnTo>
                    <a:pt x="24826" y="25513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15029" y="834609"/>
              <a:ext cx="35560" cy="26034"/>
            </a:xfrm>
            <a:custGeom>
              <a:avLst/>
              <a:gdLst/>
              <a:ahLst/>
              <a:cxnLst/>
              <a:rect l="l" t="t" r="r" b="b"/>
              <a:pathLst>
                <a:path w="35560" h="26034">
                  <a:moveTo>
                    <a:pt x="0" y="0"/>
                  </a:moveTo>
                  <a:lnTo>
                    <a:pt x="24826" y="25513"/>
                  </a:lnTo>
                  <a:lnTo>
                    <a:pt x="20074" y="9360"/>
                  </a:lnTo>
                  <a:lnTo>
                    <a:pt x="35502" y="2617"/>
                  </a:lnTo>
                  <a:lnTo>
                    <a:pt x="0" y="0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219309" y="1229175"/>
            <a:ext cx="484505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target</a:t>
            </a:r>
            <a:r>
              <a:rPr sz="400" spc="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dirty="0">
                <a:solidFill>
                  <a:srgbClr val="6B6E76"/>
                </a:solidFill>
                <a:latin typeface="Calibri"/>
                <a:cs typeface="Calibri"/>
              </a:rPr>
              <a:t>lost</a:t>
            </a:r>
            <a:r>
              <a:rPr sz="400" spc="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spc="50" dirty="0">
                <a:solidFill>
                  <a:srgbClr val="6B6E76"/>
                </a:solidFill>
                <a:latin typeface="Calibri"/>
                <a:cs typeface="Calibri"/>
              </a:rPr>
              <a:t>/</a:t>
            </a:r>
            <a:r>
              <a:rPr sz="400" spc="6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400" b="0" i="1" spc="-20" dirty="0">
                <a:solidFill>
                  <a:srgbClr val="6B6E76"/>
                </a:solidFill>
                <a:latin typeface="Bookman Old Style"/>
                <a:cs typeface="Bookman Old Style"/>
              </a:rPr>
              <a:t>&gt;</a:t>
            </a:r>
            <a:r>
              <a:rPr sz="400" spc="-20" dirty="0">
                <a:solidFill>
                  <a:srgbClr val="6B6E76"/>
                </a:solidFill>
                <a:latin typeface="Calibri"/>
                <a:cs typeface="Calibri"/>
              </a:rPr>
              <a:t>35cm</a:t>
            </a:r>
            <a:endParaRPr sz="400" dirty="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346687" y="1100831"/>
            <a:ext cx="1743710" cy="1205865"/>
            <a:chOff x="3117199" y="837144"/>
            <a:chExt cx="1743710" cy="1205865"/>
          </a:xfrm>
        </p:grpSpPr>
        <p:sp>
          <p:nvSpPr>
            <p:cNvPr id="53" name="object 53"/>
            <p:cNvSpPr/>
            <p:nvPr/>
          </p:nvSpPr>
          <p:spPr>
            <a:xfrm>
              <a:off x="3121786" y="865387"/>
              <a:ext cx="824230" cy="1172845"/>
            </a:xfrm>
            <a:custGeom>
              <a:avLst/>
              <a:gdLst/>
              <a:ahLst/>
              <a:cxnLst/>
              <a:rect l="l" t="t" r="r" b="b"/>
              <a:pathLst>
                <a:path w="824229" h="1172845">
                  <a:moveTo>
                    <a:pt x="0" y="1172639"/>
                  </a:moveTo>
                  <a:lnTo>
                    <a:pt x="45969" y="1139385"/>
                  </a:lnTo>
                  <a:lnTo>
                    <a:pt x="90326" y="1106168"/>
                  </a:lnTo>
                  <a:lnTo>
                    <a:pt x="133108" y="1072941"/>
                  </a:lnTo>
                  <a:lnTo>
                    <a:pt x="174350" y="1039657"/>
                  </a:lnTo>
                  <a:lnTo>
                    <a:pt x="214088" y="1006267"/>
                  </a:lnTo>
                  <a:lnTo>
                    <a:pt x="252358" y="972727"/>
                  </a:lnTo>
                  <a:lnTo>
                    <a:pt x="289195" y="938987"/>
                  </a:lnTo>
                  <a:lnTo>
                    <a:pt x="324636" y="905003"/>
                  </a:lnTo>
                  <a:lnTo>
                    <a:pt x="358716" y="870725"/>
                  </a:lnTo>
                  <a:lnTo>
                    <a:pt x="391472" y="836108"/>
                  </a:lnTo>
                  <a:lnTo>
                    <a:pt x="422939" y="801104"/>
                  </a:lnTo>
                  <a:lnTo>
                    <a:pt x="453152" y="765667"/>
                  </a:lnTo>
                  <a:lnTo>
                    <a:pt x="482149" y="729748"/>
                  </a:lnTo>
                  <a:lnTo>
                    <a:pt x="509964" y="693302"/>
                  </a:lnTo>
                  <a:lnTo>
                    <a:pt x="536634" y="656281"/>
                  </a:lnTo>
                  <a:lnTo>
                    <a:pt x="562195" y="618639"/>
                  </a:lnTo>
                  <a:lnTo>
                    <a:pt x="586681" y="580327"/>
                  </a:lnTo>
                  <a:lnTo>
                    <a:pt x="610130" y="541299"/>
                  </a:lnTo>
                  <a:lnTo>
                    <a:pt x="632577" y="501508"/>
                  </a:lnTo>
                  <a:lnTo>
                    <a:pt x="654058" y="460907"/>
                  </a:lnTo>
                  <a:lnTo>
                    <a:pt x="674608" y="419450"/>
                  </a:lnTo>
                  <a:lnTo>
                    <a:pt x="694265" y="377088"/>
                  </a:lnTo>
                  <a:lnTo>
                    <a:pt x="713062" y="333775"/>
                  </a:lnTo>
                  <a:lnTo>
                    <a:pt x="731037" y="289463"/>
                  </a:lnTo>
                  <a:lnTo>
                    <a:pt x="748225" y="244107"/>
                  </a:lnTo>
                  <a:lnTo>
                    <a:pt x="764663" y="197658"/>
                  </a:lnTo>
                  <a:lnTo>
                    <a:pt x="780385" y="150070"/>
                  </a:lnTo>
                  <a:lnTo>
                    <a:pt x="795428" y="101295"/>
                  </a:lnTo>
                  <a:lnTo>
                    <a:pt x="809828" y="51288"/>
                  </a:lnTo>
                  <a:lnTo>
                    <a:pt x="823620" y="0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30958" y="841731"/>
              <a:ext cx="24765" cy="35560"/>
            </a:xfrm>
            <a:custGeom>
              <a:avLst/>
              <a:gdLst/>
              <a:ahLst/>
              <a:cxnLst/>
              <a:rect l="l" t="t" r="r" b="b"/>
              <a:pathLst>
                <a:path w="24764" h="35559">
                  <a:moveTo>
                    <a:pt x="0" y="29034"/>
                  </a:moveTo>
                  <a:lnTo>
                    <a:pt x="15024" y="21436"/>
                  </a:lnTo>
                  <a:lnTo>
                    <a:pt x="24448" y="35388"/>
                  </a:lnTo>
                  <a:lnTo>
                    <a:pt x="20595" y="0"/>
                  </a:lnTo>
                  <a:lnTo>
                    <a:pt x="0" y="29034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30958" y="841731"/>
              <a:ext cx="24765" cy="35560"/>
            </a:xfrm>
            <a:custGeom>
              <a:avLst/>
              <a:gdLst/>
              <a:ahLst/>
              <a:cxnLst/>
              <a:rect l="l" t="t" r="r" b="b"/>
              <a:pathLst>
                <a:path w="24764" h="35559">
                  <a:moveTo>
                    <a:pt x="20595" y="0"/>
                  </a:moveTo>
                  <a:lnTo>
                    <a:pt x="0" y="29034"/>
                  </a:lnTo>
                  <a:lnTo>
                    <a:pt x="15024" y="21436"/>
                  </a:lnTo>
                  <a:lnTo>
                    <a:pt x="24448" y="35388"/>
                  </a:lnTo>
                  <a:lnTo>
                    <a:pt x="20595" y="0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32236" y="865387"/>
              <a:ext cx="824230" cy="1172845"/>
            </a:xfrm>
            <a:custGeom>
              <a:avLst/>
              <a:gdLst/>
              <a:ahLst/>
              <a:cxnLst/>
              <a:rect l="l" t="t" r="r" b="b"/>
              <a:pathLst>
                <a:path w="824229" h="1172845">
                  <a:moveTo>
                    <a:pt x="823618" y="1172639"/>
                  </a:moveTo>
                  <a:lnTo>
                    <a:pt x="777648" y="1139385"/>
                  </a:lnTo>
                  <a:lnTo>
                    <a:pt x="733291" y="1106168"/>
                  </a:lnTo>
                  <a:lnTo>
                    <a:pt x="690509" y="1072941"/>
                  </a:lnTo>
                  <a:lnTo>
                    <a:pt x="649267" y="1039657"/>
                  </a:lnTo>
                  <a:lnTo>
                    <a:pt x="609529" y="1006267"/>
                  </a:lnTo>
                  <a:lnTo>
                    <a:pt x="571260" y="972727"/>
                  </a:lnTo>
                  <a:lnTo>
                    <a:pt x="534422" y="938987"/>
                  </a:lnTo>
                  <a:lnTo>
                    <a:pt x="498982" y="905003"/>
                  </a:lnTo>
                  <a:lnTo>
                    <a:pt x="464901" y="870725"/>
                  </a:lnTo>
                  <a:lnTo>
                    <a:pt x="432146" y="836108"/>
                  </a:lnTo>
                  <a:lnTo>
                    <a:pt x="400679" y="801104"/>
                  </a:lnTo>
                  <a:lnTo>
                    <a:pt x="370466" y="765667"/>
                  </a:lnTo>
                  <a:lnTo>
                    <a:pt x="341469" y="729748"/>
                  </a:lnTo>
                  <a:lnTo>
                    <a:pt x="313654" y="693302"/>
                  </a:lnTo>
                  <a:lnTo>
                    <a:pt x="286984" y="656281"/>
                  </a:lnTo>
                  <a:lnTo>
                    <a:pt x="261424" y="618639"/>
                  </a:lnTo>
                  <a:lnTo>
                    <a:pt x="236937" y="580327"/>
                  </a:lnTo>
                  <a:lnTo>
                    <a:pt x="213488" y="541299"/>
                  </a:lnTo>
                  <a:lnTo>
                    <a:pt x="191042" y="501508"/>
                  </a:lnTo>
                  <a:lnTo>
                    <a:pt x="169561" y="460907"/>
                  </a:lnTo>
                  <a:lnTo>
                    <a:pt x="149011" y="419450"/>
                  </a:lnTo>
                  <a:lnTo>
                    <a:pt x="129354" y="377088"/>
                  </a:lnTo>
                  <a:lnTo>
                    <a:pt x="110557" y="333775"/>
                  </a:lnTo>
                  <a:lnTo>
                    <a:pt x="92582" y="289463"/>
                  </a:lnTo>
                  <a:lnTo>
                    <a:pt x="75394" y="244107"/>
                  </a:lnTo>
                  <a:lnTo>
                    <a:pt x="58957" y="197658"/>
                  </a:lnTo>
                  <a:lnTo>
                    <a:pt x="43234" y="150070"/>
                  </a:lnTo>
                  <a:lnTo>
                    <a:pt x="28191" y="101295"/>
                  </a:lnTo>
                  <a:lnTo>
                    <a:pt x="13792" y="51288"/>
                  </a:lnTo>
                  <a:lnTo>
                    <a:pt x="0" y="0"/>
                  </a:lnTo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22235" y="841731"/>
              <a:ext cx="24765" cy="35560"/>
            </a:xfrm>
            <a:custGeom>
              <a:avLst/>
              <a:gdLst/>
              <a:ahLst/>
              <a:cxnLst/>
              <a:rect l="l" t="t" r="r" b="b"/>
              <a:pathLst>
                <a:path w="24764" h="35559">
                  <a:moveTo>
                    <a:pt x="0" y="35388"/>
                  </a:moveTo>
                  <a:lnTo>
                    <a:pt x="9424" y="21436"/>
                  </a:lnTo>
                  <a:lnTo>
                    <a:pt x="24448" y="29034"/>
                  </a:lnTo>
                  <a:lnTo>
                    <a:pt x="3853" y="0"/>
                  </a:lnTo>
                  <a:lnTo>
                    <a:pt x="0" y="35388"/>
                  </a:lnTo>
                  <a:close/>
                </a:path>
              </a:pathLst>
            </a:custGeom>
            <a:solidFill>
              <a:srgbClr val="2C5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22235" y="841731"/>
              <a:ext cx="24765" cy="35560"/>
            </a:xfrm>
            <a:custGeom>
              <a:avLst/>
              <a:gdLst/>
              <a:ahLst/>
              <a:cxnLst/>
              <a:rect l="l" t="t" r="r" b="b"/>
              <a:pathLst>
                <a:path w="24764" h="35559">
                  <a:moveTo>
                    <a:pt x="3853" y="0"/>
                  </a:moveTo>
                  <a:lnTo>
                    <a:pt x="0" y="35388"/>
                  </a:lnTo>
                  <a:lnTo>
                    <a:pt x="9424" y="21436"/>
                  </a:lnTo>
                  <a:lnTo>
                    <a:pt x="24448" y="29034"/>
                  </a:lnTo>
                  <a:lnTo>
                    <a:pt x="3853" y="0"/>
                  </a:lnTo>
                  <a:close/>
                </a:path>
              </a:pathLst>
            </a:custGeom>
            <a:ln w="9173">
              <a:solidFill>
                <a:srgbClr val="2C50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10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Control</a:t>
            </a:r>
            <a:r>
              <a:rPr spc="180" dirty="0"/>
              <a:t> </a:t>
            </a:r>
            <a:r>
              <a:rPr dirty="0"/>
              <a:t>Firmware</a:t>
            </a:r>
            <a:r>
              <a:rPr spc="180" dirty="0"/>
              <a:t> </a:t>
            </a:r>
            <a:r>
              <a:rPr spc="-155" dirty="0"/>
              <a:t>—</a:t>
            </a:r>
            <a:r>
              <a:rPr spc="190" dirty="0"/>
              <a:t> </a:t>
            </a:r>
            <a:r>
              <a:rPr spc="50" dirty="0"/>
              <a:t>Source</a:t>
            </a:r>
            <a:r>
              <a:rPr spc="18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42589"/>
            <a:ext cx="1336040" cy="187261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700" dirty="0">
                <a:solidFill>
                  <a:srgbClr val="153156"/>
                </a:solidFill>
                <a:latin typeface="Calibri"/>
                <a:cs typeface="Calibri"/>
              </a:rPr>
              <a:t>Core</a:t>
            </a:r>
            <a:r>
              <a:rPr sz="700" spc="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loop()</a:t>
            </a:r>
            <a:r>
              <a:rPr sz="700" b="1" spc="-185" dirty="0">
                <a:solidFill>
                  <a:srgbClr val="153156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153156"/>
                </a:solidFill>
                <a:latin typeface="Calibri"/>
                <a:cs typeface="Calibri"/>
              </a:rPr>
              <a:t>structure</a:t>
            </a: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13399"/>
              </a:lnSpc>
              <a:spcBef>
                <a:spcPts val="12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Reads</a:t>
            </a:r>
            <a:r>
              <a:rPr sz="800" spc="2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ultrasonic</a:t>
            </a:r>
            <a:r>
              <a:rPr sz="8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both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8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flanks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each</a:t>
            </a:r>
            <a:r>
              <a:rPr sz="8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2B2B2B"/>
                </a:solidFill>
                <a:latin typeface="Calibri"/>
                <a:cs typeface="Calibri"/>
              </a:rPr>
              <a:t>cycle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800" spc="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pick</a:t>
            </a:r>
            <a:r>
              <a:rPr sz="800" spc="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800" spc="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motor</a:t>
            </a:r>
            <a:r>
              <a:rPr sz="8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action.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700" dirty="0">
                <a:solidFill>
                  <a:srgbClr val="153156"/>
                </a:solidFill>
                <a:latin typeface="Calibri"/>
                <a:cs typeface="Calibri"/>
              </a:rPr>
              <a:t>Safety</a:t>
            </a:r>
            <a:r>
              <a:rPr sz="700" spc="16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53156"/>
                </a:solidFill>
                <a:latin typeface="Calibri"/>
                <a:cs typeface="Calibri"/>
              </a:rPr>
              <a:t>backup</a:t>
            </a:r>
            <a:r>
              <a:rPr sz="700" spc="1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700" spc="1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153156"/>
                </a:solidFill>
                <a:latin typeface="Calibri"/>
                <a:cs typeface="Calibri"/>
              </a:rPr>
              <a:t>turn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closer</a:t>
            </a:r>
            <a:r>
              <a:rPr sz="8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than</a:t>
            </a:r>
            <a:r>
              <a:rPr sz="8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10</a:t>
            </a:r>
            <a:r>
              <a:rPr sz="8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r>
              <a:rPr sz="8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i="1" spc="-50" dirty="0">
                <a:solidFill>
                  <a:srgbClr val="2B2B2B"/>
                </a:solidFill>
                <a:latin typeface="Times New Roman"/>
                <a:cs typeface="Times New Roman"/>
              </a:rPr>
              <a:t>→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halt,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reverse,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turn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right,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2B2B2B"/>
                </a:solidFill>
                <a:latin typeface="Calibri"/>
                <a:cs typeface="Calibri"/>
              </a:rPr>
              <a:t>halt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5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then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re-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evaluate.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700" dirty="0">
                <a:solidFill>
                  <a:srgbClr val="153156"/>
                </a:solidFill>
                <a:latin typeface="Calibri"/>
                <a:cs typeface="Calibri"/>
              </a:rPr>
              <a:t>Rotating</a:t>
            </a:r>
            <a:r>
              <a:rPr sz="700" spc="26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53156"/>
                </a:solidFill>
                <a:latin typeface="Calibri"/>
                <a:cs typeface="Calibri"/>
              </a:rPr>
              <a:t>search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lost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or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beyond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35</a:t>
            </a:r>
            <a:r>
              <a:rPr sz="8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endParaRPr sz="800">
              <a:latin typeface="Calibri"/>
              <a:cs typeface="Calibri"/>
            </a:endParaRPr>
          </a:p>
          <a:p>
            <a:pPr marL="12700" marR="277495">
              <a:lnSpc>
                <a:spcPct val="113399"/>
              </a:lnSpc>
            </a:pPr>
            <a:r>
              <a:rPr sz="800" i="1" dirty="0">
                <a:solidFill>
                  <a:srgbClr val="2B2B2B"/>
                </a:solidFill>
                <a:latin typeface="Times New Roman"/>
                <a:cs typeface="Times New Roman"/>
              </a:rPr>
              <a:t>→</a:t>
            </a:r>
            <a:r>
              <a:rPr sz="800" i="1" spc="12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robot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pivots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right</a:t>
            </a:r>
            <a:r>
              <a:rPr sz="8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re-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acquire.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2018" y="504532"/>
            <a:ext cx="3528060" cy="125730"/>
          </a:xfrm>
          <a:custGeom>
            <a:avLst/>
            <a:gdLst/>
            <a:ahLst/>
            <a:cxnLst/>
            <a:rect l="l" t="t" r="r" b="b"/>
            <a:pathLst>
              <a:path w="3528060" h="125729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09102" y="490857"/>
            <a:ext cx="8185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1</a:t>
            </a:r>
            <a:r>
              <a:rPr sz="500" spc="42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153156"/>
                </a:solidFill>
                <a:latin typeface="Courier New"/>
                <a:cs typeface="Courier New"/>
              </a:rPr>
              <a:t>void</a:t>
            </a:r>
            <a:r>
              <a:rPr sz="700" b="1" spc="-45" dirty="0">
                <a:solidFill>
                  <a:srgbClr val="153156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loop()</a:t>
            </a:r>
            <a:r>
              <a:rPr sz="700" spc="-4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60" dirty="0">
                <a:solidFill>
                  <a:srgbClr val="2B2B2B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72005" y="629665"/>
            <a:ext cx="3528060" cy="751205"/>
          </a:xfrm>
          <a:custGeom>
            <a:avLst/>
            <a:gdLst/>
            <a:ahLst/>
            <a:cxnLst/>
            <a:rect l="l" t="t" r="r" b="b"/>
            <a:pathLst>
              <a:path w="3528060" h="751205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0" y="250266"/>
                </a:lnTo>
                <a:lnTo>
                  <a:pt x="0" y="375399"/>
                </a:lnTo>
                <a:lnTo>
                  <a:pt x="0" y="500532"/>
                </a:lnTo>
                <a:lnTo>
                  <a:pt x="0" y="625665"/>
                </a:lnTo>
                <a:lnTo>
                  <a:pt x="0" y="750798"/>
                </a:lnTo>
                <a:lnTo>
                  <a:pt x="3527983" y="750798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17267" y="597137"/>
            <a:ext cx="2470150" cy="77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2620" indent="-635">
              <a:lnSpc>
                <a:spcPct val="117300"/>
              </a:lnSpc>
              <a:spcBef>
                <a:spcPts val="100"/>
              </a:spcBef>
            </a:pPr>
            <a:r>
              <a:rPr sz="700" b="1" dirty="0">
                <a:solidFill>
                  <a:srgbClr val="153156"/>
                </a:solidFill>
                <a:latin typeface="Courier New"/>
                <a:cs typeface="Courier New"/>
              </a:rPr>
              <a:t>int</a:t>
            </a:r>
            <a:r>
              <a:rPr sz="700" b="1" spc="-40" dirty="0">
                <a:solidFill>
                  <a:srgbClr val="153156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distance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</a:t>
            </a:r>
            <a:r>
              <a:rPr sz="700" spc="-4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sonar.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ping_cm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();</a:t>
            </a:r>
            <a:r>
              <a:rPr sz="700" spc="50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if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(distance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0)</a:t>
            </a:r>
            <a:r>
              <a:rPr sz="700" spc="-4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distance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200;</a:t>
            </a:r>
            <a:endParaRPr sz="700">
              <a:latin typeface="Courier New"/>
              <a:cs typeface="Courier New"/>
            </a:endParaRPr>
          </a:p>
          <a:p>
            <a:pPr marL="12700" marR="535940">
              <a:lnSpc>
                <a:spcPct val="117300"/>
              </a:lnSpc>
            </a:pPr>
            <a:r>
              <a:rPr sz="700" b="1" dirty="0">
                <a:solidFill>
                  <a:srgbClr val="153156"/>
                </a:solidFill>
                <a:latin typeface="Courier New"/>
                <a:cs typeface="Courier New"/>
              </a:rPr>
              <a:t>int</a:t>
            </a:r>
            <a:r>
              <a:rPr sz="700" b="1" spc="-35" dirty="0">
                <a:solidFill>
                  <a:srgbClr val="153156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rightIR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digitalRead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(RIGHT_IR); </a:t>
            </a:r>
            <a:r>
              <a:rPr sz="700" b="1" dirty="0">
                <a:solidFill>
                  <a:srgbClr val="153156"/>
                </a:solidFill>
                <a:latin typeface="Courier New"/>
                <a:cs typeface="Courier New"/>
              </a:rPr>
              <a:t>int</a:t>
            </a:r>
            <a:r>
              <a:rPr sz="700" b="1" spc="-25" dirty="0">
                <a:solidFill>
                  <a:srgbClr val="153156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leftIR</a:t>
            </a:r>
            <a:r>
              <a:rPr sz="700" spc="37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digitalRead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(LEFT_IR);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analogWrite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(ENA,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(distance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&gt;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25)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?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220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: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170);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analogWrite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(ENB,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(distance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&gt;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25)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?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220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: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170);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72005" y="1380464"/>
            <a:ext cx="3528060" cy="250825"/>
          </a:xfrm>
          <a:custGeom>
            <a:avLst/>
            <a:gdLst/>
            <a:ahLst/>
            <a:cxnLst/>
            <a:rect l="l" t="t" r="r" b="b"/>
            <a:pathLst>
              <a:path w="3528060" h="250825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0" y="250266"/>
                </a:lnTo>
                <a:lnTo>
                  <a:pt x="3527983" y="250266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83532" y="1491922"/>
            <a:ext cx="12484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//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Safety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Stop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&amp;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Backup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72005" y="1630730"/>
            <a:ext cx="3528060" cy="751205"/>
          </a:xfrm>
          <a:custGeom>
            <a:avLst/>
            <a:gdLst/>
            <a:ahLst/>
            <a:cxnLst/>
            <a:rect l="l" t="t" r="r" b="b"/>
            <a:pathLst>
              <a:path w="3528060" h="751205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0" y="250266"/>
                </a:lnTo>
                <a:lnTo>
                  <a:pt x="0" y="375399"/>
                </a:lnTo>
                <a:lnTo>
                  <a:pt x="0" y="500532"/>
                </a:lnTo>
                <a:lnTo>
                  <a:pt x="0" y="625665"/>
                </a:lnTo>
                <a:lnTo>
                  <a:pt x="0" y="750798"/>
                </a:lnTo>
                <a:lnTo>
                  <a:pt x="3527983" y="750798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17305" y="1473069"/>
            <a:ext cx="1619885" cy="9017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if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(distance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&lt;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MIN_DISTANCE)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50" dirty="0">
                <a:solidFill>
                  <a:srgbClr val="2B2B2B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45"/>
              </a:spcBef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('S');</a:t>
            </a:r>
            <a:r>
              <a:rPr sz="700" spc="1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delay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(300);</a:t>
            </a:r>
            <a:endParaRPr sz="7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45"/>
              </a:spcBef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('B');</a:t>
            </a:r>
            <a:r>
              <a:rPr sz="700" spc="1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delay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(400);</a:t>
            </a:r>
            <a:endParaRPr sz="7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45"/>
              </a:spcBef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('S');</a:t>
            </a:r>
            <a:r>
              <a:rPr sz="700" spc="1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delay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(200);</a:t>
            </a:r>
            <a:endParaRPr sz="700">
              <a:latin typeface="Courier New"/>
              <a:cs typeface="Courier New"/>
            </a:endParaRPr>
          </a:p>
          <a:p>
            <a:pPr marL="118745" marR="57785">
              <a:lnSpc>
                <a:spcPct val="117300"/>
              </a:lnSpc>
            </a:pP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('R');</a:t>
            </a:r>
            <a:r>
              <a:rPr sz="700" spc="1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delay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(300);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('S');</a:t>
            </a:r>
            <a:r>
              <a:rPr sz="700" spc="1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return;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700" spc="-5" dirty="0">
                <a:solidFill>
                  <a:srgbClr val="2B2B2B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72005" y="2381529"/>
            <a:ext cx="3528060" cy="375920"/>
          </a:xfrm>
          <a:custGeom>
            <a:avLst/>
            <a:gdLst/>
            <a:ahLst/>
            <a:cxnLst/>
            <a:rect l="l" t="t" r="r" b="b"/>
            <a:pathLst>
              <a:path w="3528060" h="375919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0" y="250266"/>
                </a:lnTo>
                <a:lnTo>
                  <a:pt x="0" y="375399"/>
                </a:lnTo>
                <a:lnTo>
                  <a:pt x="3527983" y="375399"/>
                </a:lnTo>
                <a:lnTo>
                  <a:pt x="3527983" y="250266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17280" y="2349001"/>
            <a:ext cx="3108325" cy="40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100"/>
              </a:spcBef>
            </a:pP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if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(rightIR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LOW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&amp;&amp;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leftIR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==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HIGH)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('R');</a:t>
            </a:r>
            <a:r>
              <a:rPr sz="700" spc="500" dirty="0">
                <a:solidFill>
                  <a:srgbClr val="2B2B2B"/>
                </a:solidFill>
                <a:latin typeface="Courier New"/>
                <a:cs typeface="Courier New"/>
              </a:rPr>
              <a:t> 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else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if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(rightIR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HIGH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&amp;&amp;</a:t>
            </a:r>
            <a:r>
              <a:rPr sz="700" spc="-4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leftIR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==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LOW)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('L');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else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if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(distance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&lt;=</a:t>
            </a:r>
            <a:r>
              <a:rPr sz="700" spc="-3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FOLLOW_DISTANCE)</a:t>
            </a:r>
            <a:r>
              <a:rPr sz="700" spc="-2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('F');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72018" y="2756928"/>
            <a:ext cx="3528060" cy="125730"/>
          </a:xfrm>
          <a:custGeom>
            <a:avLst/>
            <a:gdLst/>
            <a:ahLst/>
            <a:cxnLst/>
            <a:rect l="l" t="t" r="r" b="b"/>
            <a:pathLst>
              <a:path w="3528060" h="125730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17280" y="2743253"/>
            <a:ext cx="27362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78660" algn="l"/>
              </a:tabLst>
            </a:pP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else</a:t>
            </a:r>
            <a:r>
              <a:rPr sz="700" spc="-4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b="1" spc="-10" dirty="0">
                <a:solidFill>
                  <a:srgbClr val="153156"/>
                </a:solidFill>
                <a:latin typeface="Courier New"/>
                <a:cs typeface="Courier New"/>
              </a:rPr>
              <a:t>setMotors</a:t>
            </a:r>
            <a:r>
              <a:rPr sz="700" spc="-10" dirty="0">
                <a:solidFill>
                  <a:srgbClr val="2B2B2B"/>
                </a:solidFill>
                <a:latin typeface="Courier New"/>
                <a:cs typeface="Courier New"/>
              </a:rPr>
              <a:t>('R');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	//</a:t>
            </a:r>
            <a:r>
              <a:rPr sz="700" spc="-40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2B2B2B"/>
                </a:solidFill>
                <a:latin typeface="Courier New"/>
                <a:cs typeface="Courier New"/>
              </a:rPr>
              <a:t>Search</a:t>
            </a:r>
            <a:r>
              <a:rPr sz="700" spc="-3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2B2B2B"/>
                </a:solidFill>
                <a:latin typeface="Courier New"/>
                <a:cs typeface="Courier New"/>
              </a:rPr>
              <a:t>Mode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72018" y="2882061"/>
            <a:ext cx="3528060" cy="125730"/>
          </a:xfrm>
          <a:custGeom>
            <a:avLst/>
            <a:gdLst/>
            <a:ahLst/>
            <a:cxnLst/>
            <a:rect l="l" t="t" r="r" b="b"/>
            <a:pathLst>
              <a:path w="3528060" h="125730">
                <a:moveTo>
                  <a:pt x="3527983" y="0"/>
                </a:moveTo>
                <a:lnTo>
                  <a:pt x="0" y="0"/>
                </a:lnTo>
                <a:lnTo>
                  <a:pt x="0" y="125133"/>
                </a:lnTo>
                <a:lnTo>
                  <a:pt x="3527983" y="125133"/>
                </a:lnTo>
                <a:lnTo>
                  <a:pt x="3527983" y="0"/>
                </a:lnTo>
                <a:close/>
              </a:path>
            </a:pathLst>
          </a:custGeom>
          <a:solidFill>
            <a:srgbClr val="EEF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70138" y="641295"/>
            <a:ext cx="219710" cy="235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95"/>
              </a:spcBef>
            </a:pPr>
            <a:r>
              <a:rPr sz="500" spc="-15" dirty="0">
                <a:solidFill>
                  <a:srgbClr val="6B6E76"/>
                </a:solidFill>
                <a:latin typeface="Calibri"/>
                <a:cs typeface="Calibri"/>
              </a:rPr>
              <a:t>2</a:t>
            </a:r>
            <a:endParaRPr sz="500">
              <a:latin typeface="Calibri"/>
              <a:cs typeface="Calibri"/>
            </a:endParaRPr>
          </a:p>
          <a:p>
            <a:pPr marL="46990">
              <a:lnSpc>
                <a:spcPct val="100000"/>
              </a:lnSpc>
              <a:spcBef>
                <a:spcPts val="385"/>
              </a:spcBef>
            </a:pPr>
            <a:r>
              <a:rPr sz="500" spc="-15" dirty="0">
                <a:solidFill>
                  <a:srgbClr val="6B6E76"/>
                </a:solidFill>
                <a:latin typeface="Calibri"/>
                <a:cs typeface="Calibri"/>
              </a:rPr>
              <a:t>3</a:t>
            </a:r>
            <a:endParaRPr sz="5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  <a:spcBef>
                <a:spcPts val="38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4</a:t>
            </a:r>
            <a:endParaRPr sz="500">
              <a:latin typeface="Calibri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390"/>
              </a:spcBef>
            </a:pPr>
            <a:r>
              <a:rPr sz="500" spc="-15" dirty="0">
                <a:solidFill>
                  <a:srgbClr val="6B6E76"/>
                </a:solidFill>
                <a:latin typeface="Calibri"/>
                <a:cs typeface="Calibri"/>
              </a:rPr>
              <a:t>5</a:t>
            </a:r>
            <a:endParaRPr sz="5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  <a:spcBef>
                <a:spcPts val="384"/>
              </a:spcBef>
            </a:pPr>
            <a:r>
              <a:rPr sz="500" spc="5" dirty="0">
                <a:solidFill>
                  <a:srgbClr val="6B6E76"/>
                </a:solidFill>
                <a:latin typeface="Calibri"/>
                <a:cs typeface="Calibri"/>
              </a:rPr>
              <a:t>6</a:t>
            </a:r>
            <a:endParaRPr sz="500">
              <a:latin typeface="Calibri"/>
              <a:cs typeface="Calibri"/>
            </a:endParaRPr>
          </a:p>
          <a:p>
            <a:pPr marL="49530">
              <a:lnSpc>
                <a:spcPct val="100000"/>
              </a:lnSpc>
              <a:spcBef>
                <a:spcPts val="384"/>
              </a:spcBef>
            </a:pPr>
            <a:r>
              <a:rPr sz="500" spc="-40" dirty="0">
                <a:solidFill>
                  <a:srgbClr val="6B6E76"/>
                </a:solidFill>
                <a:latin typeface="Calibri"/>
                <a:cs typeface="Calibri"/>
              </a:rPr>
              <a:t>7</a:t>
            </a:r>
            <a:endParaRPr sz="50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  <a:spcBef>
                <a:spcPts val="384"/>
              </a:spcBef>
            </a:pPr>
            <a:r>
              <a:rPr sz="500" spc="10" dirty="0">
                <a:solidFill>
                  <a:srgbClr val="6B6E76"/>
                </a:solidFill>
                <a:latin typeface="Calibri"/>
                <a:cs typeface="Calibri"/>
              </a:rPr>
              <a:t>8</a:t>
            </a:r>
            <a:endParaRPr sz="5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  <a:spcBef>
                <a:spcPts val="38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9</a:t>
            </a:r>
            <a:endParaRPr sz="5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10</a:t>
            </a:r>
            <a:endParaRPr sz="5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11</a:t>
            </a:r>
            <a:endParaRPr sz="5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12</a:t>
            </a:r>
            <a:endParaRPr sz="5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13</a:t>
            </a:r>
            <a:endParaRPr sz="5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14</a:t>
            </a:r>
            <a:endParaRPr sz="5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15</a:t>
            </a:r>
            <a:endParaRPr sz="5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16</a:t>
            </a:r>
            <a:endParaRPr sz="5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17</a:t>
            </a:r>
            <a:endParaRPr sz="5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18</a:t>
            </a:r>
            <a:endParaRPr sz="5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385"/>
              </a:spcBef>
            </a:pPr>
            <a:r>
              <a:rPr sz="500" spc="-25" dirty="0">
                <a:solidFill>
                  <a:srgbClr val="6B6E76"/>
                </a:solidFill>
                <a:latin typeface="Calibri"/>
                <a:cs typeface="Calibri"/>
              </a:rPr>
              <a:t>19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500" dirty="0">
                <a:solidFill>
                  <a:srgbClr val="6B6E76"/>
                </a:solidFill>
                <a:latin typeface="Calibri"/>
                <a:cs typeface="Calibri"/>
              </a:rPr>
              <a:t>20</a:t>
            </a:r>
            <a:r>
              <a:rPr sz="500" spc="484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solidFill>
                  <a:srgbClr val="2B2B2B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11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5213E3-1B85-8349-349E-AAFB72245BBF}"/>
              </a:ext>
            </a:extLst>
          </p:cNvPr>
          <p:cNvSpPr/>
          <p:nvPr/>
        </p:nvSpPr>
        <p:spPr>
          <a:xfrm>
            <a:off x="2979839" y="538259"/>
            <a:ext cx="2667000" cy="1600199"/>
          </a:xfrm>
          <a:prstGeom prst="roundRect">
            <a:avLst/>
          </a:prstGeom>
          <a:gradFill flip="none" rotWithShape="1">
            <a:gsLst>
              <a:gs pos="0">
                <a:srgbClr val="153156">
                  <a:tint val="66000"/>
                  <a:satMod val="160000"/>
                </a:srgbClr>
              </a:gs>
              <a:gs pos="0">
                <a:srgbClr val="153156">
                  <a:tint val="66000"/>
                  <a:satMod val="160000"/>
                </a:srgbClr>
              </a:gs>
              <a:gs pos="0">
                <a:srgbClr val="153156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Calibration</a:t>
            </a:r>
            <a:r>
              <a:rPr spc="65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spc="-10" dirty="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38259"/>
            <a:ext cx="2372360" cy="12592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Sensor</a:t>
            </a:r>
            <a:r>
              <a:rPr sz="1000" spc="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45" dirty="0">
                <a:solidFill>
                  <a:srgbClr val="153156"/>
                </a:solidFill>
                <a:latin typeface="Calibri"/>
                <a:cs typeface="Calibri"/>
              </a:rPr>
              <a:t>threshold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configuration</a:t>
            </a:r>
            <a:endParaRPr sz="1000">
              <a:latin typeface="Calibri"/>
              <a:cs typeface="Calibri"/>
            </a:endParaRPr>
          </a:p>
          <a:p>
            <a:pPr marL="12700" marR="19685">
              <a:lnSpc>
                <a:spcPct val="113399"/>
              </a:lnSpc>
              <a:spcBef>
                <a:spcPts val="6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sensors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sz="8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trimmed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via</a:t>
            </a:r>
            <a:r>
              <a:rPr sz="8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onboard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potentiometers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ignore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ambient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light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trigger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reliably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at</a:t>
            </a:r>
            <a:r>
              <a:rPr sz="8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maximum</a:t>
            </a:r>
            <a:r>
              <a:rPr sz="8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range</a:t>
            </a:r>
            <a:r>
              <a:rPr sz="8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8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8</a:t>
            </a:r>
            <a:r>
              <a:rPr sz="80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cm.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45" dirty="0">
                <a:solidFill>
                  <a:srgbClr val="153156"/>
                </a:solidFill>
                <a:latin typeface="Calibri"/>
                <a:cs typeface="Calibri"/>
              </a:rPr>
              <a:t>Physical</a:t>
            </a:r>
            <a:r>
              <a:rPr sz="1000" spc="5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integration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3399"/>
              </a:lnSpc>
              <a:spcBef>
                <a:spcPts val="6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All</a:t>
            </a:r>
            <a:r>
              <a:rPr sz="8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modules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mount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4-wheel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acrylic</a:t>
            </a:r>
            <a:r>
              <a:rPr sz="8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chassis;</a:t>
            </a:r>
            <a:r>
              <a:rPr sz="8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common</a:t>
            </a:r>
            <a:r>
              <a:rPr sz="800" spc="2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ground</a:t>
            </a:r>
            <a:r>
              <a:rPr sz="8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plane</a:t>
            </a:r>
            <a:r>
              <a:rPr sz="8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removes</a:t>
            </a:r>
            <a:r>
              <a:rPr sz="8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electrical</a:t>
            </a:r>
            <a:r>
              <a:rPr sz="8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noise</a:t>
            </a:r>
            <a:r>
              <a:rPr sz="8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signal</a:t>
            </a:r>
            <a:r>
              <a:rPr sz="800" spc="2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fluctuation.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8305" y="980670"/>
            <a:ext cx="2503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0470" algn="l"/>
              </a:tabLst>
            </a:pPr>
            <a:r>
              <a:rPr sz="800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	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1927225"/>
            <a:ext cx="1498750" cy="10697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88305" y="666263"/>
            <a:ext cx="2444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31415" algn="l"/>
              </a:tabLst>
            </a:pPr>
            <a:r>
              <a:rPr sz="1000" u="sng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Command–state</a:t>
            </a:r>
            <a:r>
              <a:rPr sz="1000" u="sng" spc="160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  </a:t>
            </a:r>
            <a:r>
              <a:rPr sz="1000" u="sng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calibration</a:t>
            </a:r>
            <a:r>
              <a:rPr sz="1000" u="sng" spc="165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  </a:t>
            </a:r>
            <a:r>
              <a:rPr sz="1000" u="sng" spc="25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map</a:t>
            </a:r>
            <a:r>
              <a:rPr sz="1000" u="sng" dirty="0">
                <a:solidFill>
                  <a:srgbClr val="153156"/>
                </a:solidFill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	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8305" y="903391"/>
            <a:ext cx="17862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83995" algn="l"/>
              </a:tabLst>
            </a:pP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Condition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	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Action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8305" y="1100649"/>
            <a:ext cx="807085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8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2B2B2B"/>
                </a:solidFill>
                <a:latin typeface="Verdana"/>
                <a:cs typeface="Verdana"/>
              </a:rPr>
              <a:t>&lt;</a:t>
            </a:r>
            <a:r>
              <a:rPr sz="800" i="1" spc="35" dirty="0">
                <a:solidFill>
                  <a:srgbClr val="2B2B2B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10</a:t>
            </a:r>
            <a:r>
              <a:rPr sz="8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10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r>
              <a:rPr sz="8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–</a:t>
            </a:r>
            <a:r>
              <a:rPr sz="800" spc="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35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 cm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Left</a:t>
            </a:r>
            <a:r>
              <a:rPr sz="800" spc="1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800" spc="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triggered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Right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triggered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8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2B2B2B"/>
                </a:solidFill>
                <a:latin typeface="Verdana"/>
                <a:cs typeface="Verdana"/>
              </a:rPr>
              <a:t>&gt;</a:t>
            </a:r>
            <a:r>
              <a:rPr sz="800" i="1" spc="40" dirty="0">
                <a:solidFill>
                  <a:srgbClr val="2B2B2B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B2B2B"/>
                </a:solidFill>
                <a:latin typeface="Calibri"/>
                <a:cs typeface="Calibri"/>
              </a:rPr>
              <a:t>35</a:t>
            </a:r>
            <a:r>
              <a:rPr sz="800" spc="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9968" y="1100649"/>
            <a:ext cx="972819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Safety</a:t>
            </a:r>
            <a:r>
              <a:rPr sz="8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backup</a:t>
            </a:r>
            <a:r>
              <a:rPr sz="8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&amp;</a:t>
            </a:r>
            <a:r>
              <a:rPr sz="8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2B2B2B"/>
                </a:solidFill>
                <a:latin typeface="Calibri"/>
                <a:cs typeface="Calibri"/>
              </a:rPr>
              <a:t>turn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Drive</a:t>
            </a:r>
            <a:r>
              <a:rPr sz="80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forward</a:t>
            </a:r>
            <a:endParaRPr sz="800">
              <a:latin typeface="Calibri"/>
              <a:cs typeface="Calibri"/>
            </a:endParaRPr>
          </a:p>
          <a:p>
            <a:pPr marL="12700" marR="489584">
              <a:lnSpc>
                <a:spcPct val="124700"/>
              </a:lnSpc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Pivot</a:t>
            </a:r>
            <a:r>
              <a:rPr sz="8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2B2B2B"/>
                </a:solidFill>
                <a:latin typeface="Calibri"/>
                <a:cs typeface="Calibri"/>
              </a:rPr>
              <a:t>left</a:t>
            </a:r>
            <a:r>
              <a:rPr sz="8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Pivot</a:t>
            </a:r>
            <a:r>
              <a:rPr sz="8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right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8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B2B2B"/>
                </a:solidFill>
                <a:latin typeface="Calibri"/>
                <a:cs typeface="Calibri"/>
              </a:rPr>
              <a:t>lost</a:t>
            </a:r>
            <a:r>
              <a:rPr sz="800" spc="11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2B2B2B"/>
                </a:solidFill>
                <a:latin typeface="Times New Roman"/>
                <a:cs typeface="Times New Roman"/>
              </a:rPr>
              <a:t>→</a:t>
            </a:r>
            <a:r>
              <a:rPr sz="800" i="1" spc="9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2B2B2B"/>
                </a:solidFill>
                <a:latin typeface="Calibri"/>
                <a:cs typeface="Calibri"/>
              </a:rPr>
              <a:t>search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01005" y="1930517"/>
            <a:ext cx="2419350" cy="0"/>
          </a:xfrm>
          <a:custGeom>
            <a:avLst/>
            <a:gdLst/>
            <a:ahLst/>
            <a:cxnLst/>
            <a:rect l="l" t="t" r="r" b="b"/>
            <a:pathLst>
              <a:path w="2419350">
                <a:moveTo>
                  <a:pt x="0" y="0"/>
                </a:moveTo>
                <a:lnTo>
                  <a:pt x="2419184" y="0"/>
                </a:lnTo>
              </a:path>
            </a:pathLst>
          </a:custGeom>
          <a:ln w="10121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12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Performance</a:t>
            </a:r>
            <a:r>
              <a:rPr spc="315" dirty="0"/>
              <a:t> </a:t>
            </a:r>
            <a:r>
              <a:rPr dirty="0"/>
              <a:t>Testing</a:t>
            </a:r>
            <a:r>
              <a:rPr spc="320" dirty="0"/>
              <a:t> </a:t>
            </a:r>
            <a:r>
              <a:rPr dirty="0"/>
              <a:t>&amp;</a:t>
            </a:r>
            <a:r>
              <a:rPr spc="330" dirty="0"/>
              <a:t> </a:t>
            </a:r>
            <a:r>
              <a:rPr spc="40" dirty="0"/>
              <a:t>Evaluation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59663"/>
            <a:ext cx="1339850" cy="1110615"/>
          </a:xfrm>
          <a:custGeom>
            <a:avLst/>
            <a:gdLst/>
            <a:ahLst/>
            <a:cxnLst/>
            <a:rect l="l" t="t" r="r" b="b"/>
            <a:pathLst>
              <a:path w="1339850" h="1110614">
                <a:moveTo>
                  <a:pt x="1339837" y="599452"/>
                </a:moveTo>
                <a:lnTo>
                  <a:pt x="1336865" y="584682"/>
                </a:lnTo>
                <a:lnTo>
                  <a:pt x="1328724" y="572617"/>
                </a:lnTo>
                <a:lnTo>
                  <a:pt x="1316659" y="564476"/>
                </a:lnTo>
                <a:lnTo>
                  <a:pt x="1301889" y="561492"/>
                </a:lnTo>
                <a:lnTo>
                  <a:pt x="37947" y="561492"/>
                </a:lnTo>
                <a:lnTo>
                  <a:pt x="23177" y="564476"/>
                </a:lnTo>
                <a:lnTo>
                  <a:pt x="11112" y="572617"/>
                </a:lnTo>
                <a:lnTo>
                  <a:pt x="2971" y="584682"/>
                </a:lnTo>
                <a:lnTo>
                  <a:pt x="0" y="599452"/>
                </a:lnTo>
                <a:lnTo>
                  <a:pt x="0" y="1072388"/>
                </a:lnTo>
                <a:lnTo>
                  <a:pt x="2971" y="1087158"/>
                </a:lnTo>
                <a:lnTo>
                  <a:pt x="11112" y="1099223"/>
                </a:lnTo>
                <a:lnTo>
                  <a:pt x="23177" y="1107363"/>
                </a:lnTo>
                <a:lnTo>
                  <a:pt x="37947" y="1110348"/>
                </a:lnTo>
                <a:lnTo>
                  <a:pt x="1301889" y="1110348"/>
                </a:lnTo>
                <a:lnTo>
                  <a:pt x="1316659" y="1107363"/>
                </a:lnTo>
                <a:lnTo>
                  <a:pt x="1328724" y="1099223"/>
                </a:lnTo>
                <a:lnTo>
                  <a:pt x="1336865" y="1087158"/>
                </a:lnTo>
                <a:lnTo>
                  <a:pt x="1339837" y="1072388"/>
                </a:lnTo>
                <a:lnTo>
                  <a:pt x="1339837" y="599452"/>
                </a:lnTo>
                <a:close/>
              </a:path>
              <a:path w="1339850" h="1110614">
                <a:moveTo>
                  <a:pt x="1339837" y="37960"/>
                </a:moveTo>
                <a:lnTo>
                  <a:pt x="1336865" y="23190"/>
                </a:lnTo>
                <a:lnTo>
                  <a:pt x="1328724" y="11125"/>
                </a:lnTo>
                <a:lnTo>
                  <a:pt x="1316659" y="2984"/>
                </a:lnTo>
                <a:lnTo>
                  <a:pt x="1301889" y="0"/>
                </a:lnTo>
                <a:lnTo>
                  <a:pt x="37947" y="0"/>
                </a:lnTo>
                <a:lnTo>
                  <a:pt x="23177" y="2984"/>
                </a:lnTo>
                <a:lnTo>
                  <a:pt x="11112" y="11125"/>
                </a:lnTo>
                <a:lnTo>
                  <a:pt x="2971" y="23190"/>
                </a:lnTo>
                <a:lnTo>
                  <a:pt x="0" y="37960"/>
                </a:lnTo>
                <a:lnTo>
                  <a:pt x="0" y="510895"/>
                </a:lnTo>
                <a:lnTo>
                  <a:pt x="2971" y="525665"/>
                </a:lnTo>
                <a:lnTo>
                  <a:pt x="11112" y="537730"/>
                </a:lnTo>
                <a:lnTo>
                  <a:pt x="23177" y="545871"/>
                </a:lnTo>
                <a:lnTo>
                  <a:pt x="37947" y="548855"/>
                </a:lnTo>
                <a:lnTo>
                  <a:pt x="1301889" y="548855"/>
                </a:lnTo>
                <a:lnTo>
                  <a:pt x="1316659" y="545871"/>
                </a:lnTo>
                <a:lnTo>
                  <a:pt x="1328724" y="537730"/>
                </a:lnTo>
                <a:lnTo>
                  <a:pt x="1336865" y="525665"/>
                </a:lnTo>
                <a:lnTo>
                  <a:pt x="1339837" y="510895"/>
                </a:lnTo>
                <a:lnTo>
                  <a:pt x="1339837" y="37960"/>
                </a:lnTo>
                <a:close/>
              </a:path>
            </a:pathLst>
          </a:custGeom>
          <a:solidFill>
            <a:srgbClr val="EF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9994" y="1933257"/>
            <a:ext cx="1339850" cy="557530"/>
          </a:xfrm>
          <a:custGeom>
            <a:avLst/>
            <a:gdLst/>
            <a:ahLst/>
            <a:cxnLst/>
            <a:rect l="l" t="t" r="r" b="b"/>
            <a:pathLst>
              <a:path w="1339850" h="557530">
                <a:moveTo>
                  <a:pt x="1301890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3"/>
                </a:lnTo>
                <a:lnTo>
                  <a:pt x="0" y="37958"/>
                </a:lnTo>
                <a:lnTo>
                  <a:pt x="0" y="519367"/>
                </a:lnTo>
                <a:lnTo>
                  <a:pt x="2982" y="534142"/>
                </a:lnTo>
                <a:lnTo>
                  <a:pt x="11117" y="546208"/>
                </a:lnTo>
                <a:lnTo>
                  <a:pt x="23182" y="554342"/>
                </a:lnTo>
                <a:lnTo>
                  <a:pt x="37958" y="557325"/>
                </a:lnTo>
                <a:lnTo>
                  <a:pt x="1301890" y="557325"/>
                </a:lnTo>
                <a:lnTo>
                  <a:pt x="1316665" y="554342"/>
                </a:lnTo>
                <a:lnTo>
                  <a:pt x="1328730" y="546208"/>
                </a:lnTo>
                <a:lnTo>
                  <a:pt x="1336865" y="534142"/>
                </a:lnTo>
                <a:lnTo>
                  <a:pt x="1339848" y="519367"/>
                </a:lnTo>
                <a:lnTo>
                  <a:pt x="1339848" y="37958"/>
                </a:lnTo>
                <a:lnTo>
                  <a:pt x="1336865" y="23183"/>
                </a:lnTo>
                <a:lnTo>
                  <a:pt x="1328730" y="11117"/>
                </a:lnTo>
                <a:lnTo>
                  <a:pt x="1316665" y="2982"/>
                </a:lnTo>
                <a:lnTo>
                  <a:pt x="1301890" y="0"/>
                </a:lnTo>
                <a:close/>
              </a:path>
            </a:pathLst>
          </a:custGeom>
          <a:solidFill>
            <a:srgbClr val="EF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1383" y="650033"/>
            <a:ext cx="957580" cy="1797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750"/>
              </a:spcBef>
            </a:pPr>
            <a:r>
              <a:rPr sz="2200" dirty="0">
                <a:solidFill>
                  <a:srgbClr val="153156"/>
                </a:solidFill>
                <a:latin typeface="Calibri"/>
                <a:cs typeface="Calibri"/>
              </a:rPr>
              <a:t>±0.5</a:t>
            </a:r>
            <a:r>
              <a:rPr sz="2200" spc="-1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2200" spc="80" dirty="0">
                <a:solidFill>
                  <a:srgbClr val="153156"/>
                </a:solidFill>
                <a:latin typeface="Calibri"/>
                <a:cs typeface="Calibri"/>
              </a:rPr>
              <a:t>cm</a:t>
            </a:r>
            <a:endParaRPr sz="2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ranging</a:t>
            </a:r>
            <a:r>
              <a:rPr sz="800" spc="33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variance</a:t>
            </a:r>
            <a:endParaRPr sz="800" dirty="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590"/>
              </a:spcBef>
            </a:pPr>
            <a:r>
              <a:rPr sz="2200" spc="-40" dirty="0">
                <a:solidFill>
                  <a:srgbClr val="153156"/>
                </a:solidFill>
                <a:latin typeface="Calibri"/>
                <a:cs typeface="Calibri"/>
              </a:rPr>
              <a:t>10</a:t>
            </a:r>
            <a:r>
              <a:rPr sz="2200" spc="-12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2200" spc="105" dirty="0">
                <a:solidFill>
                  <a:srgbClr val="153156"/>
                </a:solidFill>
                <a:latin typeface="Calibri"/>
                <a:cs typeface="Calibri"/>
              </a:rPr>
              <a:t>ms</a:t>
            </a:r>
            <a:endParaRPr sz="2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4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control</a:t>
            </a:r>
            <a:r>
              <a:rPr sz="800" spc="305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loop</a:t>
            </a:r>
            <a:r>
              <a:rPr sz="800" spc="310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latency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sz="2200" dirty="0">
                <a:solidFill>
                  <a:srgbClr val="153156"/>
                </a:solidFill>
                <a:latin typeface="Calibri"/>
                <a:cs typeface="Calibri"/>
              </a:rPr>
              <a:t>50</a:t>
            </a:r>
            <a:r>
              <a:rPr sz="2200" spc="-5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2200" spc="75" dirty="0">
                <a:solidFill>
                  <a:srgbClr val="153156"/>
                </a:solidFill>
                <a:latin typeface="Calibri"/>
                <a:cs typeface="Calibri"/>
              </a:rPr>
              <a:t>min</a:t>
            </a:r>
            <a:endParaRPr sz="2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800" dirty="0">
                <a:solidFill>
                  <a:srgbClr val="6B6E76"/>
                </a:solidFill>
                <a:latin typeface="Calibri"/>
                <a:cs typeface="Calibri"/>
              </a:rPr>
              <a:t>continuous</a:t>
            </a:r>
            <a:r>
              <a:rPr sz="800" spc="459" dirty="0">
                <a:solidFill>
                  <a:srgbClr val="6B6E7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B6E76"/>
                </a:solidFill>
                <a:latin typeface="Calibri"/>
                <a:cs typeface="Calibri"/>
              </a:rPr>
              <a:t>runtime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0511" y="701547"/>
            <a:ext cx="1718945" cy="12128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Target</a:t>
            </a:r>
            <a:r>
              <a:rPr sz="800" spc="13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tracking</a:t>
            </a:r>
            <a:endParaRPr sz="800">
              <a:latin typeface="Calibri"/>
              <a:cs typeface="Calibri"/>
            </a:endParaRPr>
          </a:p>
          <a:p>
            <a:pPr marL="12700" marR="124460">
              <a:lnSpc>
                <a:spcPct val="109100"/>
              </a:lnSpc>
              <a:spcBef>
                <a:spcPts val="75"/>
              </a:spcBef>
            </a:pP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Maintains</a:t>
            </a:r>
            <a:r>
              <a:rPr sz="7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7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30" dirty="0">
                <a:solidFill>
                  <a:srgbClr val="2B2B2B"/>
                </a:solidFill>
                <a:latin typeface="Calibri"/>
                <a:cs typeface="Calibri"/>
              </a:rPr>
              <a:t>10–35</a:t>
            </a:r>
            <a:r>
              <a:rPr sz="700" spc="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cm</a:t>
            </a:r>
            <a:r>
              <a:rPr sz="700" spc="13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follow</a:t>
            </a:r>
            <a:r>
              <a:rPr sz="700" spc="1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alibri"/>
                <a:cs typeface="Calibri"/>
              </a:rPr>
              <a:t>boundary</a:t>
            </a:r>
            <a:r>
              <a:rPr sz="7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reliably,</a:t>
            </a:r>
            <a:r>
              <a:rPr sz="7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no</a:t>
            </a:r>
            <a:r>
              <a:rPr sz="7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manual</a:t>
            </a:r>
            <a:r>
              <a:rPr sz="700" spc="1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alibri"/>
                <a:cs typeface="Calibri"/>
              </a:rPr>
              <a:t>input.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Ranging</a:t>
            </a:r>
            <a:r>
              <a:rPr sz="800" spc="17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&amp;</a:t>
            </a:r>
            <a:r>
              <a:rPr sz="800" spc="19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latency</a:t>
            </a:r>
            <a:endParaRPr sz="800">
              <a:latin typeface="Calibri"/>
              <a:cs typeface="Calibri"/>
            </a:endParaRPr>
          </a:p>
          <a:p>
            <a:pPr marL="12700" marR="250825">
              <a:lnSpc>
                <a:spcPct val="109100"/>
              </a:lnSpc>
              <a:spcBef>
                <a:spcPts val="80"/>
              </a:spcBef>
            </a:pPr>
            <a:r>
              <a:rPr sz="700" spc="-30" dirty="0">
                <a:solidFill>
                  <a:srgbClr val="2B2B2B"/>
                </a:solidFill>
                <a:latin typeface="Calibri"/>
                <a:cs typeface="Calibri"/>
              </a:rPr>
              <a:t>10</a:t>
            </a:r>
            <a:r>
              <a:rPr sz="7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ms</a:t>
            </a:r>
            <a:r>
              <a:rPr sz="7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loop</a:t>
            </a:r>
            <a:r>
              <a:rPr sz="7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latency</a:t>
            </a:r>
            <a:r>
              <a:rPr sz="7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enables</a:t>
            </a:r>
            <a:r>
              <a:rPr sz="7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sz="700" spc="-20" dirty="0">
                <a:solidFill>
                  <a:srgbClr val="2B2B2B"/>
                </a:solidFill>
                <a:latin typeface="Calibri"/>
                <a:cs typeface="Calibri"/>
              </a:rPr>
              <a:t>time</a:t>
            </a:r>
            <a:r>
              <a:rPr sz="7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reaction</a:t>
            </a:r>
            <a:r>
              <a:rPr sz="700" spc="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7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7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speed</a:t>
            </a:r>
            <a:r>
              <a:rPr sz="7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alibri"/>
                <a:cs typeface="Calibri"/>
              </a:rPr>
              <a:t>changes.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dirty="0">
                <a:solidFill>
                  <a:srgbClr val="153156"/>
                </a:solidFill>
                <a:latin typeface="Calibri"/>
                <a:cs typeface="Calibri"/>
              </a:rPr>
              <a:t>Power</a:t>
            </a:r>
            <a:r>
              <a:rPr sz="800" spc="14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53156"/>
                </a:solidFill>
                <a:latin typeface="Calibri"/>
                <a:cs typeface="Calibri"/>
              </a:rPr>
              <a:t>runtime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9100"/>
              </a:lnSpc>
              <a:spcBef>
                <a:spcPts val="80"/>
              </a:spcBef>
            </a:pP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Dual</a:t>
            </a:r>
            <a:r>
              <a:rPr sz="7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18650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cells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sustain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full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motor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load</a:t>
            </a:r>
            <a:r>
              <a:rPr sz="700" spc="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25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700" spc="5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50</a:t>
            </a:r>
            <a:r>
              <a:rPr sz="7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2B2B2B"/>
                </a:solidFill>
                <a:latin typeface="Calibri"/>
                <a:cs typeface="Calibri"/>
              </a:rPr>
              <a:t>continuous</a:t>
            </a:r>
            <a:r>
              <a:rPr sz="700" spc="1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2B2B2B"/>
                </a:solidFill>
                <a:latin typeface="Calibri"/>
                <a:cs typeface="Calibri"/>
              </a:rPr>
              <a:t>minutes.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2321" y="552665"/>
            <a:ext cx="1363485" cy="1143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6542" y="1774825"/>
            <a:ext cx="1055041" cy="11430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13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3708"/>
            <a:ext cx="2386330" cy="9944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Successful</a:t>
            </a:r>
            <a:r>
              <a:rPr sz="1000" spc="4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prototype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75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Built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low-cost,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low-power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autonomous</a:t>
            </a:r>
            <a:r>
              <a:rPr sz="90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robot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that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tracks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follows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target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real</a:t>
            </a:r>
            <a:r>
              <a:rPr sz="900" spc="1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time,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validating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core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design.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Verified</a:t>
            </a:r>
            <a:r>
              <a:rPr sz="1000" spc="34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differential</a:t>
            </a:r>
            <a:r>
              <a:rPr sz="1000" spc="35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steering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7304" y="557479"/>
            <a:ext cx="2494280" cy="9944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Coordinated</a:t>
            </a:r>
            <a:r>
              <a:rPr sz="1000" spc="2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153156"/>
                </a:solidFill>
                <a:latin typeface="Calibri"/>
                <a:cs typeface="Calibri"/>
              </a:rPr>
              <a:t>sensor</a:t>
            </a:r>
            <a:r>
              <a:rPr sz="1000" spc="265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control</a:t>
            </a:r>
            <a:endParaRPr sz="1000">
              <a:latin typeface="Calibri"/>
              <a:cs typeface="Calibri"/>
            </a:endParaRPr>
          </a:p>
          <a:p>
            <a:pPr marL="12700" marR="5080" algn="just">
              <a:lnSpc>
                <a:spcPct val="116700"/>
              </a:lnSpc>
              <a:spcBef>
                <a:spcPts val="80"/>
              </a:spcBef>
            </a:pPr>
            <a:r>
              <a:rPr sz="900" spc="40" dirty="0">
                <a:solidFill>
                  <a:srgbClr val="2B2B2B"/>
                </a:solidFill>
                <a:latin typeface="Calibri"/>
                <a:cs typeface="Calibri"/>
              </a:rPr>
              <a:t>Simple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5" dirty="0">
                <a:solidFill>
                  <a:srgbClr val="2B2B2B"/>
                </a:solidFill>
                <a:latin typeface="Calibri"/>
                <a:cs typeface="Calibri"/>
              </a:rPr>
              <a:t>acoustic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ranging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plus 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IR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2B2B2B"/>
                </a:solidFill>
                <a:latin typeface="Calibri"/>
                <a:cs typeface="Calibri"/>
              </a:rPr>
              <a:t>proximity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gives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4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5" dirty="0">
                <a:solidFill>
                  <a:srgbClr val="2B2B2B"/>
                </a:solidFill>
                <a:latin typeface="Calibri"/>
                <a:cs typeface="Calibri"/>
              </a:rPr>
              <a:t>reliable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25" dirty="0">
                <a:solidFill>
                  <a:srgbClr val="2B2B2B"/>
                </a:solidFill>
                <a:latin typeface="Calibri"/>
                <a:cs typeface="Calibri"/>
              </a:rPr>
              <a:t>tracking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envelope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14" dirty="0">
                <a:solidFill>
                  <a:srgbClr val="2B2B2B"/>
                </a:solidFill>
                <a:latin typeface="Calibri"/>
                <a:cs typeface="Calibri"/>
              </a:rPr>
              <a:t>—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40" dirty="0">
                <a:solidFill>
                  <a:srgbClr val="2B2B2B"/>
                </a:solidFill>
                <a:latin typeface="Calibri"/>
                <a:cs typeface="Calibri"/>
              </a:rPr>
              <a:t>no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0" dirty="0">
                <a:solidFill>
                  <a:srgbClr val="2B2B2B"/>
                </a:solidFill>
                <a:latin typeface="Calibri"/>
                <a:cs typeface="Calibri"/>
              </a:rPr>
              <a:t>expensive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35" dirty="0">
                <a:solidFill>
                  <a:srgbClr val="2B2B2B"/>
                </a:solidFill>
                <a:latin typeface="Calibri"/>
                <a:cs typeface="Calibri"/>
              </a:rPr>
              <a:t>vision</a:t>
            </a:r>
            <a:r>
              <a:rPr sz="900" spc="20" dirty="0">
                <a:solidFill>
                  <a:srgbClr val="2B2B2B"/>
                </a:solidFill>
                <a:latin typeface="Calibri"/>
                <a:cs typeface="Calibri"/>
              </a:rPr>
              <a:t> hardware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20" dirty="0">
                <a:solidFill>
                  <a:srgbClr val="2B2B2B"/>
                </a:solidFill>
                <a:latin typeface="Calibri"/>
                <a:cs typeface="Calibri"/>
              </a:rPr>
              <a:t>required.</a:t>
            </a:r>
            <a:endParaRPr sz="9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Practical</a:t>
            </a:r>
            <a:r>
              <a:rPr sz="1000" spc="42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experience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1536081"/>
            <a:ext cx="487553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  <a:tabLst>
                <a:tab pos="2532380" algn="l"/>
              </a:tabLst>
            </a:pP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Differential</a:t>
            </a:r>
            <a:r>
              <a:rPr sz="1350" spc="359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drive</a:t>
            </a:r>
            <a:r>
              <a:rPr sz="1350" spc="359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combined</a:t>
            </a:r>
            <a:r>
              <a:rPr sz="1350" spc="359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1350" spc="359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state-command</a:t>
            </a:r>
            <a:r>
              <a:rPr sz="1350" spc="337" baseline="3086" dirty="0">
                <a:solidFill>
                  <a:srgbClr val="2B2B2B"/>
                </a:solidFill>
                <a:latin typeface="Calibri"/>
                <a:cs typeface="Calibri"/>
              </a:rPr>
              <a:t> 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Hands-</a:t>
            </a:r>
            <a:r>
              <a:rPr sz="900" spc="60" dirty="0">
                <a:solidFill>
                  <a:srgbClr val="2B2B2B"/>
                </a:solidFill>
                <a:latin typeface="Calibri"/>
                <a:cs typeface="Calibri"/>
              </a:rPr>
              <a:t>on</a:t>
            </a:r>
            <a:r>
              <a:rPr sz="900" spc="2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exposure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2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hardware–software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sensor</a:t>
            </a:r>
            <a:r>
              <a:rPr sz="1350" spc="405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feedback</a:t>
            </a:r>
            <a:r>
              <a:rPr sz="1350" spc="412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handles</a:t>
            </a:r>
            <a:r>
              <a:rPr sz="1350" spc="405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lateral</a:t>
            </a:r>
            <a:r>
              <a:rPr sz="1350" spc="412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350" spc="405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5" baseline="3086" dirty="0">
                <a:solidFill>
                  <a:srgbClr val="2B2B2B"/>
                </a:solidFill>
                <a:latin typeface="Calibri"/>
                <a:cs typeface="Calibri"/>
              </a:rPr>
              <a:t>forward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co-design,</a:t>
            </a:r>
            <a:r>
              <a:rPr sz="900" spc="2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power</a:t>
            </a:r>
            <a:r>
              <a:rPr sz="9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isolation,</a:t>
            </a:r>
            <a:r>
              <a:rPr sz="9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sensor</a:t>
            </a:r>
            <a:r>
              <a:rPr sz="9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calibration,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movement</a:t>
            </a:r>
            <a:r>
              <a:rPr sz="1350" spc="390" baseline="308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5" baseline="3086" dirty="0">
                <a:solidFill>
                  <a:srgbClr val="2B2B2B"/>
                </a:solidFill>
                <a:latin typeface="Calibri"/>
                <a:cs typeface="Calibri"/>
              </a:rPr>
              <a:t>cleanly.</a:t>
            </a:r>
            <a:r>
              <a:rPr sz="1350" baseline="3086" dirty="0">
                <a:solidFill>
                  <a:srgbClr val="2B2B2B"/>
                </a:solidFill>
                <a:latin typeface="Calibri"/>
                <a:cs typeface="Calibri"/>
              </a:rPr>
              <a:t>	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45" dirty="0">
                <a:solidFill>
                  <a:srgbClr val="2B2B2B"/>
                </a:solidFill>
                <a:latin typeface="Calibri"/>
                <a:cs typeface="Calibri"/>
              </a:rPr>
              <a:t>closed-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loop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control.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969" y="2282558"/>
            <a:ext cx="4890135" cy="537210"/>
          </a:xfrm>
          <a:custGeom>
            <a:avLst/>
            <a:gdLst/>
            <a:ahLst/>
            <a:cxnLst/>
            <a:rect l="l" t="t" r="r" b="b"/>
            <a:pathLst>
              <a:path w="4890135" h="537210">
                <a:moveTo>
                  <a:pt x="4851946" y="0"/>
                </a:moveTo>
                <a:lnTo>
                  <a:pt x="37958" y="0"/>
                </a:lnTo>
                <a:lnTo>
                  <a:pt x="23182" y="2982"/>
                </a:lnTo>
                <a:lnTo>
                  <a:pt x="11117" y="11117"/>
                </a:lnTo>
                <a:lnTo>
                  <a:pt x="2982" y="23182"/>
                </a:lnTo>
                <a:lnTo>
                  <a:pt x="0" y="37958"/>
                </a:lnTo>
                <a:lnTo>
                  <a:pt x="0" y="498793"/>
                </a:lnTo>
                <a:lnTo>
                  <a:pt x="2982" y="513569"/>
                </a:lnTo>
                <a:lnTo>
                  <a:pt x="11117" y="525634"/>
                </a:lnTo>
                <a:lnTo>
                  <a:pt x="23182" y="533769"/>
                </a:lnTo>
                <a:lnTo>
                  <a:pt x="37958" y="536752"/>
                </a:lnTo>
                <a:lnTo>
                  <a:pt x="4851946" y="536752"/>
                </a:lnTo>
                <a:lnTo>
                  <a:pt x="4866721" y="533769"/>
                </a:lnTo>
                <a:lnTo>
                  <a:pt x="4878787" y="525634"/>
                </a:lnTo>
                <a:lnTo>
                  <a:pt x="4886921" y="513569"/>
                </a:lnTo>
                <a:lnTo>
                  <a:pt x="4889904" y="498793"/>
                </a:lnTo>
                <a:lnTo>
                  <a:pt x="4889904" y="37958"/>
                </a:lnTo>
                <a:lnTo>
                  <a:pt x="4886921" y="23182"/>
                </a:lnTo>
                <a:lnTo>
                  <a:pt x="4878787" y="11117"/>
                </a:lnTo>
                <a:lnTo>
                  <a:pt x="4866721" y="2982"/>
                </a:lnTo>
                <a:lnTo>
                  <a:pt x="4851946" y="0"/>
                </a:lnTo>
                <a:close/>
              </a:path>
            </a:pathLst>
          </a:custGeom>
          <a:solidFill>
            <a:srgbClr val="1532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57617" y="2330301"/>
            <a:ext cx="3125483" cy="3511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27299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complete,</a:t>
            </a:r>
            <a:r>
              <a:rPr sz="900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9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object-following</a:t>
            </a:r>
            <a:r>
              <a:rPr sz="900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90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tirely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900" spc="315" dirty="0">
                <a:solidFill>
                  <a:srgbClr val="FFFFFF"/>
                </a:solidFill>
                <a:latin typeface="Calibri"/>
                <a:cs typeface="Calibri"/>
              </a:rPr>
              <a:t>   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low-cost,</a:t>
            </a:r>
            <a:r>
              <a:rPr sz="9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readily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components.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14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215" dirty="0"/>
              <a:t> </a:t>
            </a:r>
            <a:r>
              <a:rPr spc="55" dirty="0"/>
              <a:t>Scope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OBJECT</a:t>
            </a:r>
            <a:r>
              <a:rPr spc="20" dirty="0"/>
              <a:t> </a:t>
            </a:r>
            <a:r>
              <a:rPr spc="-30" dirty="0"/>
              <a:t>FOLLOWING</a:t>
            </a:r>
            <a:r>
              <a:rPr spc="20" dirty="0"/>
              <a:t> </a:t>
            </a:r>
            <a:r>
              <a:rPr spc="-10" dirty="0"/>
              <a:t>ROBOT</a:t>
            </a:r>
            <a:r>
              <a:rPr spc="20" dirty="0"/>
              <a:t> </a:t>
            </a:r>
            <a:r>
              <a:rPr spc="-10" dirty="0"/>
              <a:t>USING</a:t>
            </a:r>
            <a:r>
              <a:rPr spc="20" dirty="0"/>
              <a:t> </a:t>
            </a:r>
            <a:r>
              <a:rPr spc="-20" dirty="0"/>
              <a:t>ARDUINO</a:t>
            </a:r>
            <a:r>
              <a:rPr spc="20" dirty="0"/>
              <a:t> </a:t>
            </a:r>
            <a:r>
              <a:rPr spc="-25" dirty="0"/>
              <a:t>UNO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dirty="0"/>
              <a:t>15</a:t>
            </a:fld>
            <a:r>
              <a:rPr spc="10" dirty="0"/>
              <a:t> </a:t>
            </a:r>
            <a:r>
              <a:rPr spc="85" dirty="0"/>
              <a:t>/</a:t>
            </a:r>
            <a:r>
              <a:rPr spc="10" dirty="0"/>
              <a:t> </a:t>
            </a:r>
            <a:r>
              <a:rPr spc="-25" dirty="0"/>
              <a:t>13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/>
              <a:t>Active</a:t>
            </a:r>
            <a:r>
              <a:rPr spc="130" dirty="0"/>
              <a:t> </a:t>
            </a:r>
            <a:r>
              <a:rPr spc="50" dirty="0"/>
              <a:t>scanning</a:t>
            </a:r>
            <a:r>
              <a:rPr spc="135" dirty="0"/>
              <a:t> </a:t>
            </a:r>
            <a:r>
              <a:rPr spc="-20" dirty="0"/>
              <a:t>servo</a:t>
            </a: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</a:rPr>
              <a:t>Re-integrate</a:t>
            </a:r>
            <a:r>
              <a:rPr sz="900" spc="17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an</a:t>
            </a:r>
            <a:r>
              <a:rPr sz="900" spc="18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SG90</a:t>
            </a:r>
            <a:r>
              <a:rPr sz="900" spc="185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micro</a:t>
            </a:r>
            <a:r>
              <a:rPr sz="900" spc="18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servo</a:t>
            </a:r>
            <a:r>
              <a:rPr sz="900" spc="185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to</a:t>
            </a:r>
            <a:r>
              <a:rPr sz="900" spc="18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sweep</a:t>
            </a:r>
            <a:r>
              <a:rPr sz="900" spc="185" dirty="0">
                <a:solidFill>
                  <a:srgbClr val="2B2B2B"/>
                </a:solidFill>
              </a:rPr>
              <a:t> </a:t>
            </a:r>
            <a:r>
              <a:rPr sz="900" spc="-25" dirty="0">
                <a:solidFill>
                  <a:srgbClr val="2B2B2B"/>
                </a:solidFill>
              </a:rPr>
              <a:t>the</a:t>
            </a:r>
            <a:r>
              <a:rPr sz="900" dirty="0">
                <a:solidFill>
                  <a:srgbClr val="2B2B2B"/>
                </a:solidFill>
              </a:rPr>
              <a:t> ultrasonic</a:t>
            </a:r>
            <a:r>
              <a:rPr sz="900" spc="21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sensor</a:t>
            </a:r>
            <a:r>
              <a:rPr sz="900" spc="215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across</a:t>
            </a:r>
            <a:r>
              <a:rPr sz="900" spc="21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a</a:t>
            </a:r>
            <a:r>
              <a:rPr sz="900" spc="215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180°</a:t>
            </a:r>
            <a:r>
              <a:rPr sz="900" spc="210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field</a:t>
            </a:r>
            <a:r>
              <a:rPr sz="900" spc="215" dirty="0">
                <a:solidFill>
                  <a:srgbClr val="2B2B2B"/>
                </a:solidFill>
              </a:rPr>
              <a:t> </a:t>
            </a:r>
            <a:r>
              <a:rPr sz="900" dirty="0">
                <a:solidFill>
                  <a:srgbClr val="2B2B2B"/>
                </a:solidFill>
              </a:rPr>
              <a:t>of</a:t>
            </a:r>
            <a:r>
              <a:rPr sz="900" spc="210" dirty="0">
                <a:solidFill>
                  <a:srgbClr val="2B2B2B"/>
                </a:solidFill>
              </a:rPr>
              <a:t> </a:t>
            </a:r>
            <a:r>
              <a:rPr sz="900" spc="-10" dirty="0">
                <a:solidFill>
                  <a:srgbClr val="2B2B2B"/>
                </a:solidFill>
              </a:rPr>
              <a:t>view.</a:t>
            </a:r>
            <a:endParaRPr sz="900"/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Onboard</a:t>
            </a:r>
            <a:r>
              <a:rPr spc="254" dirty="0"/>
              <a:t> </a:t>
            </a:r>
            <a:r>
              <a:rPr dirty="0"/>
              <a:t>OLED</a:t>
            </a:r>
            <a:r>
              <a:rPr spc="260" dirty="0"/>
              <a:t> </a:t>
            </a:r>
            <a:r>
              <a:rPr spc="40" dirty="0"/>
              <a:t>display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1724743"/>
            <a:ext cx="2479040" cy="916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distance</a:t>
            </a:r>
            <a:r>
              <a:rPr sz="900" spc="2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operating</a:t>
            </a:r>
            <a:r>
              <a:rPr sz="900" spc="2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status.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LM2596</a:t>
            </a:r>
            <a:r>
              <a:rPr sz="1000" spc="11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power</a:t>
            </a:r>
            <a:r>
              <a:rPr sz="1000" spc="11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40" dirty="0">
                <a:solidFill>
                  <a:srgbClr val="153156"/>
                </a:solidFill>
                <a:latin typeface="Calibri"/>
                <a:cs typeface="Calibri"/>
              </a:rPr>
              <a:t>isolation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Add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step-down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buck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converter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1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isolate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servo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current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spikes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logic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rail,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removing</a:t>
            </a:r>
            <a:r>
              <a:rPr sz="900" spc="2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earlier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reset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issue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900" spc="1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good.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1564685"/>
            <a:ext cx="49415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Re-introduce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0.96”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SSD1306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screen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show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live</a:t>
            </a:r>
            <a:r>
              <a:rPr sz="900" spc="3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Add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Proportional–Integral–Derivative</a:t>
            </a:r>
            <a:r>
              <a:rPr sz="90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loop</a:t>
            </a:r>
            <a:r>
              <a:rPr sz="900" spc="2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7304" y="748042"/>
            <a:ext cx="2545715" cy="8089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ESP32-CAM</a:t>
            </a:r>
            <a:r>
              <a:rPr sz="1000" spc="1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recognition</a:t>
            </a:r>
            <a:endParaRPr sz="1000" dirty="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Upgrade</a:t>
            </a:r>
            <a:r>
              <a:rPr sz="900" spc="1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controller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ESP32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sz="9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onboard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camera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face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detection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human</a:t>
            </a:r>
            <a:r>
              <a:rPr sz="900" spc="1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recognition.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PID</a:t>
            </a:r>
            <a:r>
              <a:rPr sz="1000" spc="2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53156"/>
                </a:solidFill>
                <a:latin typeface="Calibri"/>
                <a:cs typeface="Calibri"/>
              </a:rPr>
              <a:t>control</a:t>
            </a:r>
            <a:r>
              <a:rPr sz="1000" spc="240" dirty="0">
                <a:solidFill>
                  <a:srgbClr val="15315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53156"/>
                </a:solidFill>
                <a:latin typeface="Calibri"/>
                <a:cs typeface="Calibri"/>
              </a:rPr>
              <a:t>steering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7304" y="1701333"/>
            <a:ext cx="23145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smoother</a:t>
            </a:r>
            <a:r>
              <a:rPr sz="900" spc="2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acceleration</a:t>
            </a:r>
            <a:r>
              <a:rPr sz="9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900" spc="2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turning,</a:t>
            </a:r>
            <a:r>
              <a:rPr sz="900" spc="28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replacing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 today’s</a:t>
            </a:r>
            <a:r>
              <a:rPr sz="900" spc="2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B2B2B"/>
                </a:solidFill>
                <a:latin typeface="Calibri"/>
                <a:cs typeface="Calibri"/>
              </a:rPr>
              <a:t>fixed-speed</a:t>
            </a:r>
            <a:r>
              <a:rPr sz="900" spc="3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B2B2B"/>
                </a:solidFill>
                <a:latin typeface="Calibri"/>
                <a:cs typeface="Calibri"/>
              </a:rPr>
              <a:t>steps.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4161" y="1276911"/>
            <a:ext cx="131699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95" dirty="0"/>
              <a:t>Thank</a:t>
            </a:r>
            <a:r>
              <a:rPr sz="2200" spc="90" dirty="0"/>
              <a:t> </a:t>
            </a:r>
            <a:r>
              <a:rPr sz="2200" spc="40" dirty="0"/>
              <a:t>You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2187054" y="1729872"/>
            <a:ext cx="1350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1C462"/>
                </a:solidFill>
                <a:latin typeface="Calibri"/>
                <a:cs typeface="Calibri"/>
              </a:rPr>
              <a:t>Questions</a:t>
            </a:r>
            <a:r>
              <a:rPr sz="1000" spc="229" dirty="0">
                <a:solidFill>
                  <a:srgbClr val="F1C462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1C462"/>
                </a:solidFill>
                <a:latin typeface="Calibri"/>
                <a:cs typeface="Calibri"/>
              </a:rPr>
              <a:t>&amp;</a:t>
            </a:r>
            <a:r>
              <a:rPr sz="1000" spc="229" dirty="0">
                <a:solidFill>
                  <a:srgbClr val="F1C462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1C462"/>
                </a:solidFill>
                <a:latin typeface="Calibri"/>
                <a:cs typeface="Calibri"/>
              </a:rPr>
              <a:t>Discussion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1569</Words>
  <Application>Microsoft Office PowerPoint</Application>
  <PresentationFormat>Custom</PresentationFormat>
  <Paragraphs>247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Bookman Old Style</vt:lpstr>
      <vt:lpstr>Calibri</vt:lpstr>
      <vt:lpstr>Courier New</vt:lpstr>
      <vt:lpstr>Georgia</vt:lpstr>
      <vt:lpstr>Lucida Sans Unicode</vt:lpstr>
      <vt:lpstr>Times New Roman</vt:lpstr>
      <vt:lpstr>Verdana</vt:lpstr>
      <vt:lpstr>Office Theme</vt:lpstr>
      <vt:lpstr>Object Following Robot using Arduino Uno</vt:lpstr>
      <vt:lpstr>Contents</vt:lpstr>
      <vt:lpstr>Introduction &amp; Project Overview</vt:lpstr>
      <vt:lpstr>System Architecture</vt:lpstr>
      <vt:lpstr>Hardware: Arduino Uno &amp; Sensors</vt:lpstr>
      <vt:lpstr>Actuators &amp; Motor Driver</vt:lpstr>
      <vt:lpstr>Pin Configuration</vt:lpstr>
      <vt:lpstr>Circuit Diagram</vt:lpstr>
      <vt:lpstr>Power Scheme &amp; System Stability</vt:lpstr>
      <vt:lpstr>Software Control Algorithm</vt:lpstr>
      <vt:lpstr>Control Firmware — Source Code</vt:lpstr>
      <vt:lpstr>Calibration &amp; Integration</vt:lpstr>
      <vt:lpstr>Performance Testing &amp; Evaluation</vt:lpstr>
      <vt:lpstr>Conclusions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Following Robot using Arduino Uno - Mini-Project Presentation</dc:title>
  <cp:lastModifiedBy>Biraj Sarkar</cp:lastModifiedBy>
  <cp:revision>10</cp:revision>
  <dcterms:created xsi:type="dcterms:W3CDTF">2026-07-17T11:03:46Z</dcterms:created>
  <dcterms:modified xsi:type="dcterms:W3CDTF">2026-07-17T12:17:34Z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2026-07-16T00:00:00Z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2026-07-16T00:00:00Z</vt:filetime>
  </property>
</Properties>
</file>