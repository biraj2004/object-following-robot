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097280"/>
            <a:ext cx="10332720" cy="4572000"/>
          </a:xfrm>
          <a:prstGeom prst="rect">
            <a:avLst/>
          </a:prstGeom>
          <a:noFill/>
        </p:spPr>
        <p:txBody>
          <a:bodyPr wrap="square" lIns="0" rIns="0" tIns="0" bIns="0">
            <a:spAutoFit/>
          </a:bodyPr>
          <a:lstStyle/>
          <a:p>
            <a:pPr>
              <a:spcAft>
                <a:spcPts val="1200"/>
              </a:spcAft>
              <a:defRPr sz="3200" b="1">
                <a:solidFill>
                  <a:srgbClr val="1A365D"/>
                </a:solidFill>
                <a:latin typeface="Arial"/>
              </a:defRPr>
            </a:pPr>
            <a:r>
              <a:t>OBJECT FOLLOWING ROBOT</a:t>
            </a:r>
            <a:br/>
            <a:r>
              <a:t>USING ARDUINO UNO</a:t>
            </a:r>
          </a:p>
          <a:p>
            <a:pPr>
              <a:spcAft>
                <a:spcPts val="3200"/>
              </a:spcAft>
              <a:defRPr sz="1400" b="1">
                <a:solidFill>
                  <a:srgbClr val="4A5568"/>
                </a:solidFill>
                <a:latin typeface="Arial"/>
              </a:defRPr>
            </a:pPr>
            <a:r>
              <a:t>MINI-PROJECT PRESENTATION</a:t>
            </a:r>
          </a:p>
          <a:p>
            <a:pPr>
              <a:spcAft>
                <a:spcPts val="2800"/>
              </a:spcAft>
              <a:defRPr sz="1100">
                <a:solidFill>
                  <a:srgbClr val="4A5568"/>
                </a:solidFill>
                <a:latin typeface="Arial"/>
              </a:defRPr>
            </a:pPr>
            <a:r>
              <a:t>Department of Electronics and Communication Engineering</a:t>
            </a:r>
            <a:br/>
            <a:r>
              <a:t>Cooch Behar Government Engineering College</a:t>
            </a:r>
            <a:br/>
            <a:r>
              <a:t>Maulana Abul Kalam Azad University of Technology (MAKAUT)</a:t>
            </a:r>
          </a:p>
          <a:p>
            <a:pPr>
              <a:spcAft>
                <a:spcPts val="400"/>
              </a:spcAft>
              <a:defRPr sz="1100" b="1">
                <a:solidFill>
                  <a:srgbClr val="282828"/>
                </a:solidFill>
                <a:latin typeface="Arial"/>
              </a:defRPr>
            </a:pPr>
            <a:r>
              <a:t>PROJECT MEMBERS:</a:t>
            </a:r>
          </a:p>
          <a:p>
            <a:pPr>
              <a:spcAft>
                <a:spcPts val="2000"/>
              </a:spcAft>
              <a:defRPr sz="1050">
                <a:solidFill>
                  <a:srgbClr val="282828"/>
                </a:solidFill>
                <a:latin typeface="Arial"/>
              </a:defRPr>
            </a:pPr>
            <a:r>
              <a:t>Anupam Dutta (34900323003)   |   Biraj Sarkar (34900323013)   |   Debanjan Chakraborty (34900323015)</a:t>
            </a:r>
            <a:br/>
            <a:r>
              <a:t>Sayan Sarkar (34900323048)   |   Soumyajit Pandit (34900323052)</a:t>
            </a:r>
          </a:p>
          <a:p>
            <a:pPr>
              <a:defRPr sz="1100" b="1">
                <a:solidFill>
                  <a:srgbClr val="282828"/>
                </a:solidFill>
                <a:latin typeface="Arial"/>
              </a:defRPr>
            </a:pPr>
            <a:r>
              <a:t>PROJECT SUPERVISOR:  Dr. Gautam Das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Contents</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1 of 11</a:t>
            </a:r>
          </a:p>
        </p:txBody>
      </p:sp>
      <p:sp>
        <p:nvSpPr>
          <p:cNvPr id="7" name="TextBox 6"/>
          <p:cNvSpPr txBox="1"/>
          <p:nvPr/>
        </p:nvSpPr>
        <p:spPr>
          <a:xfrm>
            <a:off x="914400" y="1645920"/>
            <a:ext cx="4754880" cy="4114800"/>
          </a:xfrm>
          <a:prstGeom prst="rect">
            <a:avLst/>
          </a:prstGeom>
          <a:noFill/>
        </p:spPr>
        <p:txBody>
          <a:bodyPr wrap="square" lIns="0" rIns="0" tIns="0" bIns="0">
            <a:spAutoFit/>
          </a:bodyPr>
          <a:lstStyle/>
          <a:p>
            <a:pPr>
              <a:spcAft>
                <a:spcPts val="200"/>
              </a:spcAft>
              <a:defRPr sz="1150" b="1">
                <a:solidFill>
                  <a:srgbClr val="1A365D"/>
                </a:solidFill>
                <a:latin typeface="Arial"/>
              </a:defRPr>
            </a:pPr>
            <a:r>
              <a:t>01. INTRODUCTION &amp; PROJECT OVERVIEW</a:t>
            </a:r>
          </a:p>
          <a:p>
            <a:pPr>
              <a:spcAft>
                <a:spcPts val="1400"/>
              </a:spcAft>
              <a:defRPr sz="1050">
                <a:solidFill>
                  <a:srgbClr val="282828"/>
                </a:solidFill>
                <a:latin typeface="Arial"/>
              </a:defRPr>
            </a:pPr>
            <a:r>
              <a:t>Project motivations, HMI background, and active sensor envelope.</a:t>
            </a:r>
          </a:p>
          <a:p>
            <a:pPr>
              <a:spcAft>
                <a:spcPts val="200"/>
              </a:spcAft>
              <a:defRPr sz="1150" b="1">
                <a:solidFill>
                  <a:srgbClr val="1A365D"/>
                </a:solidFill>
                <a:latin typeface="Arial"/>
              </a:defRPr>
            </a:pPr>
            <a:r>
              <a:t>02. SYSTEM ARCHITECTURE DESIGN</a:t>
            </a:r>
          </a:p>
          <a:p>
            <a:pPr>
              <a:spcAft>
                <a:spcPts val="1400"/>
              </a:spcAft>
              <a:defRPr sz="1050">
                <a:solidFill>
                  <a:srgbClr val="282828"/>
                </a:solidFill>
                <a:latin typeface="Arial"/>
              </a:defRPr>
            </a:pPr>
            <a:r>
              <a:t>Overall system block diagram and hardware pin connection mapping.</a:t>
            </a:r>
          </a:p>
          <a:p>
            <a:pPr>
              <a:spcAft>
                <a:spcPts val="200"/>
              </a:spcAft>
              <a:defRPr sz="1150" b="1">
                <a:solidFill>
                  <a:srgbClr val="1A365D"/>
                </a:solidFill>
                <a:latin typeface="Arial"/>
              </a:defRPr>
            </a:pPr>
            <a:r>
              <a:t>03. HARDWARE COMPONENTS &amp; SENSORS</a:t>
            </a:r>
          </a:p>
          <a:p>
            <a:pPr>
              <a:spcAft>
                <a:spcPts val="1400"/>
              </a:spcAft>
              <a:defRPr sz="1050">
                <a:solidFill>
                  <a:srgbClr val="282828"/>
                </a:solidFill>
                <a:latin typeface="Arial"/>
              </a:defRPr>
            </a:pPr>
            <a:r>
              <a:t>Arduino UNO board, HC-SR04, and IR proximity sensor modules.</a:t>
            </a:r>
          </a:p>
          <a:p>
            <a:pPr>
              <a:spcAft>
                <a:spcPts val="200"/>
              </a:spcAft>
              <a:defRPr sz="1150" b="1">
                <a:solidFill>
                  <a:srgbClr val="1A365D"/>
                </a:solidFill>
                <a:latin typeface="Arial"/>
              </a:defRPr>
            </a:pPr>
            <a:r>
              <a:t>04. ACTUATORS &amp; MOTOR DRIVERS</a:t>
            </a:r>
          </a:p>
          <a:p>
            <a:pPr>
              <a:spcAft>
                <a:spcPts val="1400"/>
              </a:spcAft>
              <a:defRPr sz="1050">
                <a:solidFill>
                  <a:srgbClr val="282828"/>
                </a:solidFill>
                <a:latin typeface="Arial"/>
              </a:defRPr>
            </a:pPr>
            <a:r>
              <a:t>Brushed DC BO geared motors and L298N H-Bridge driver module.</a:t>
            </a:r>
          </a:p>
          <a:p>
            <a:pPr>
              <a:spcAft>
                <a:spcPts val="200"/>
              </a:spcAft>
              <a:defRPr sz="1150" b="1">
                <a:solidFill>
                  <a:srgbClr val="1A365D"/>
                </a:solidFill>
                <a:latin typeface="Arial"/>
              </a:defRPr>
            </a:pPr>
            <a:r>
              <a:t>05. POWER SCHEME &amp; SYSTEM STABILITY</a:t>
            </a:r>
          </a:p>
          <a:p>
            <a:pPr>
              <a:spcAft>
                <a:spcPts val="1400"/>
              </a:spcAft>
              <a:defRPr sz="1050">
                <a:solidFill>
                  <a:srgbClr val="282828"/>
                </a:solidFill>
                <a:latin typeface="Arial"/>
              </a:defRPr>
            </a:pPr>
            <a:r>
              <a:t>Unified 7.4V battery pack delivery and power isolation details.</a:t>
            </a:r>
          </a:p>
        </p:txBody>
      </p:sp>
      <p:sp>
        <p:nvSpPr>
          <p:cNvPr id="8" name="TextBox 7"/>
          <p:cNvSpPr txBox="1"/>
          <p:nvPr/>
        </p:nvSpPr>
        <p:spPr>
          <a:xfrm>
            <a:off x="6217920" y="1645920"/>
            <a:ext cx="4754880" cy="4114800"/>
          </a:xfrm>
          <a:prstGeom prst="rect">
            <a:avLst/>
          </a:prstGeom>
          <a:noFill/>
        </p:spPr>
        <p:txBody>
          <a:bodyPr wrap="square" lIns="0" rIns="0" tIns="0" bIns="0">
            <a:spAutoFit/>
          </a:bodyPr>
          <a:lstStyle/>
          <a:p>
            <a:pPr>
              <a:spcAft>
                <a:spcPts val="200"/>
              </a:spcAft>
              <a:defRPr sz="1150" b="1">
                <a:solidFill>
                  <a:srgbClr val="1A365D"/>
                </a:solidFill>
                <a:latin typeface="Arial"/>
              </a:defRPr>
            </a:pPr>
            <a:r>
              <a:t>06. SOFTWARE CONTROL ALGORITHMS</a:t>
            </a:r>
          </a:p>
          <a:p>
            <a:pPr>
              <a:spcAft>
                <a:spcPts val="1400"/>
              </a:spcAft>
              <a:defRPr sz="1050">
                <a:solidFill>
                  <a:srgbClr val="282828"/>
                </a:solidFill>
                <a:latin typeface="Arial"/>
              </a:defRPr>
            </a:pPr>
            <a:r>
              <a:t>State machine movements: forward, lateral turns, and search modes.</a:t>
            </a:r>
          </a:p>
          <a:p>
            <a:pPr>
              <a:spcAft>
                <a:spcPts val="200"/>
              </a:spcAft>
              <a:defRPr sz="1150" b="1">
                <a:solidFill>
                  <a:srgbClr val="1A365D"/>
                </a:solidFill>
                <a:latin typeface="Arial"/>
              </a:defRPr>
            </a:pPr>
            <a:r>
              <a:t>07. CONTROL SOFTWARE SOURCE CODE</a:t>
            </a:r>
          </a:p>
          <a:p>
            <a:pPr>
              <a:spcAft>
                <a:spcPts val="1400"/>
              </a:spcAft>
              <a:defRPr sz="1050">
                <a:solidFill>
                  <a:srgbClr val="282828"/>
                </a:solidFill>
                <a:latin typeface="Arial"/>
              </a:defRPr>
            </a:pPr>
            <a:r>
              <a:t>Arduino C++ code implementation utilizing the NewPing library.</a:t>
            </a:r>
          </a:p>
          <a:p>
            <a:pPr>
              <a:spcAft>
                <a:spcPts val="200"/>
              </a:spcAft>
              <a:defRPr sz="1150" b="1">
                <a:solidFill>
                  <a:srgbClr val="1A365D"/>
                </a:solidFill>
                <a:latin typeface="Arial"/>
              </a:defRPr>
            </a:pPr>
            <a:r>
              <a:t>08. CALIBRATION &amp; INTEGRATION</a:t>
            </a:r>
          </a:p>
          <a:p>
            <a:pPr>
              <a:spcAft>
                <a:spcPts val="1400"/>
              </a:spcAft>
              <a:defRPr sz="1050">
                <a:solidFill>
                  <a:srgbClr val="282828"/>
                </a:solidFill>
                <a:latin typeface="Arial"/>
              </a:defRPr>
            </a:pPr>
            <a:r>
              <a:t>Sensor threshold calibrations and action-command state mappings.</a:t>
            </a:r>
          </a:p>
          <a:p>
            <a:pPr>
              <a:spcAft>
                <a:spcPts val="200"/>
              </a:spcAft>
              <a:defRPr sz="1150" b="1">
                <a:solidFill>
                  <a:srgbClr val="1A365D"/>
                </a:solidFill>
                <a:latin typeface="Arial"/>
              </a:defRPr>
            </a:pPr>
            <a:r>
              <a:t>09. PERFORMANCE TESTING &amp; EVALUATION</a:t>
            </a:r>
          </a:p>
          <a:p>
            <a:pPr>
              <a:spcAft>
                <a:spcPts val="1400"/>
              </a:spcAft>
              <a:defRPr sz="1050">
                <a:solidFill>
                  <a:srgbClr val="282828"/>
                </a:solidFill>
                <a:latin typeface="Arial"/>
              </a:defRPr>
            </a:pPr>
            <a:r>
              <a:t>Experimental ranging trials, system latency, and battery rtimes.</a:t>
            </a:r>
          </a:p>
          <a:p>
            <a:pPr>
              <a:spcAft>
                <a:spcPts val="200"/>
              </a:spcAft>
              <a:defRPr sz="1150" b="1">
                <a:solidFill>
                  <a:srgbClr val="1A365D"/>
                </a:solidFill>
                <a:latin typeface="Arial"/>
              </a:defRPr>
            </a:pPr>
            <a:r>
              <a:t>10. CONCLUSIONS &amp; FUTURE SCOPE</a:t>
            </a:r>
          </a:p>
          <a:p>
            <a:pPr>
              <a:spcAft>
                <a:spcPts val="1400"/>
              </a:spcAft>
              <a:defRPr sz="1050">
                <a:solidFill>
                  <a:srgbClr val="282828"/>
                </a:solidFill>
                <a:latin typeface="Arial"/>
              </a:defRPr>
            </a:pPr>
            <a:r>
              <a:t>Summary of prototype and solutions to auxiliary voltage drop resets.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1. Introduction &amp; Project Overview</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2 of 11</a:t>
            </a:r>
          </a:p>
        </p:txBody>
      </p:sp>
      <p:sp>
        <p:nvSpPr>
          <p:cNvPr id="7" name="TextBox 6"/>
          <p:cNvSpPr txBox="1"/>
          <p:nvPr/>
        </p:nvSpPr>
        <p:spPr>
          <a:xfrm>
            <a:off x="914400" y="1645920"/>
            <a:ext cx="1033272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Autonomous Target Following</a:t>
            </a:r>
          </a:p>
          <a:p>
            <a:pPr>
              <a:spcAft>
                <a:spcPts val="1600"/>
              </a:spcAft>
              <a:defRPr sz="1100">
                <a:solidFill>
                  <a:srgbClr val="282828"/>
                </a:solidFill>
                <a:latin typeface="Arial"/>
              </a:defRPr>
            </a:pPr>
            <a:r>
              <a:t>Following capabilities represent an essential domain of Human-Machine Interaction (HMI). It enables hands-free operation and natural cooperation between humans and mobile platforms.</a:t>
            </a:r>
          </a:p>
          <a:p>
            <a:pPr>
              <a:spcAft>
                <a:spcPts val="200"/>
              </a:spcAft>
              <a:defRPr sz="1300" b="1">
                <a:solidFill>
                  <a:srgbClr val="1A365D"/>
                </a:solidFill>
                <a:latin typeface="Arial"/>
              </a:defRPr>
            </a:pPr>
            <a:r>
              <a:t>Active Sensory Envelopes</a:t>
            </a:r>
          </a:p>
          <a:p>
            <a:pPr>
              <a:spcAft>
                <a:spcPts val="1600"/>
              </a:spcAft>
              <a:defRPr sz="1100">
                <a:solidFill>
                  <a:srgbClr val="282828"/>
                </a:solidFill>
                <a:latin typeface="Arial"/>
              </a:defRPr>
            </a:pPr>
            <a:r>
              <a:t>Traditional vision-based human tracking requires high processing power (like Raspberry Pi boards), increasing weight, cost, and power consumption. Acoustic and IR sensors offer a low-cost, power-efficient alternative.</a:t>
            </a:r>
          </a:p>
          <a:p>
            <a:pPr>
              <a:spcAft>
                <a:spcPts val="200"/>
              </a:spcAft>
              <a:defRPr sz="1300" b="1">
                <a:solidFill>
                  <a:srgbClr val="1A365D"/>
                </a:solidFill>
                <a:latin typeface="Arial"/>
              </a:defRPr>
            </a:pPr>
            <a:r>
              <a:t>Multi-Sensor System</a:t>
            </a:r>
          </a:p>
          <a:p>
            <a:pPr>
              <a:spcAft>
                <a:spcPts val="1600"/>
              </a:spcAft>
              <a:defRPr sz="1100">
                <a:solidFill>
                  <a:srgbClr val="282828"/>
                </a:solidFill>
                <a:latin typeface="Arial"/>
              </a:defRPr>
            </a:pPr>
            <a:r>
              <a:t>By combining a front-mounted HC-SR04 ultrasonic distance sensor with side-mounted infrared proximity sensors, the robot establishes a clean spatial envelope to follow targets in real-time.</a:t>
            </a:r>
          </a:p>
          <a:p>
            <a:pPr>
              <a:spcAft>
                <a:spcPts val="200"/>
              </a:spcAft>
              <a:defRPr sz="1300" b="1">
                <a:solidFill>
                  <a:srgbClr val="1A365D"/>
                </a:solidFill>
                <a:latin typeface="Arial"/>
              </a:defRPr>
            </a:pPr>
            <a:r>
              <a:t>Real-World Applications</a:t>
            </a:r>
          </a:p>
          <a:p>
            <a:pPr>
              <a:spcAft>
                <a:spcPts val="1600"/>
              </a:spcAft>
              <a:defRPr sz="1100">
                <a:solidFill>
                  <a:srgbClr val="282828"/>
                </a:solidFill>
                <a:latin typeface="Arial"/>
              </a:defRPr>
            </a:pPr>
            <a:r>
              <a:t>Highly applicable in industrial automation, smart hospital carts that follow medical staff, hands-free warehouse transport luggage, and automated shopping guides.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2. System Architecture Design</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3 of 11</a:t>
            </a:r>
          </a:p>
        </p:txBody>
      </p:sp>
      <p:sp>
        <p:nvSpPr>
          <p:cNvPr id="7" name="TextBox 6"/>
          <p:cNvSpPr txBox="1"/>
          <p:nvPr/>
        </p:nvSpPr>
        <p:spPr>
          <a:xfrm>
            <a:off x="914400" y="1645920"/>
            <a:ext cx="475488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Multi-Sensor Input Interface</a:t>
            </a:r>
          </a:p>
          <a:p>
            <a:pPr>
              <a:spcAft>
                <a:spcPts val="1800"/>
              </a:spcAft>
              <a:defRPr sz="1100">
                <a:solidFill>
                  <a:srgbClr val="282828"/>
                </a:solidFill>
                <a:latin typeface="Arial"/>
              </a:defRPr>
            </a:pPr>
            <a:r>
              <a:t>An HC-SR04 ultrasonic sensor provides front distance metrics. Side-mounted left and right IR proximity sensors detect lateral offsets when the target moves sideways.</a:t>
            </a:r>
          </a:p>
          <a:p>
            <a:pPr>
              <a:spcAft>
                <a:spcPts val="200"/>
              </a:spcAft>
              <a:defRPr sz="1300" b="1">
                <a:solidFill>
                  <a:srgbClr val="1A365D"/>
                </a:solidFill>
                <a:latin typeface="Arial"/>
              </a:defRPr>
            </a:pPr>
            <a:r>
              <a:t>Central Processing Core</a:t>
            </a:r>
          </a:p>
          <a:p>
            <a:pPr>
              <a:spcAft>
                <a:spcPts val="1800"/>
              </a:spcAft>
              <a:defRPr sz="1100">
                <a:solidFill>
                  <a:srgbClr val="282828"/>
                </a:solidFill>
                <a:latin typeface="Arial"/>
              </a:defRPr>
            </a:pPr>
            <a:r>
              <a:t>The Arduino UNO reads inputs, determines distance and target boundaries, and executes a state machine to compute direction and PWM motor speeds.</a:t>
            </a:r>
          </a:p>
          <a:p>
            <a:pPr>
              <a:spcAft>
                <a:spcPts val="200"/>
              </a:spcAft>
              <a:defRPr sz="1300" b="1">
                <a:solidFill>
                  <a:srgbClr val="1A365D"/>
                </a:solidFill>
                <a:latin typeface="Arial"/>
              </a:defRPr>
            </a:pPr>
            <a:r>
              <a:t>Differential Steering Actuation</a:t>
            </a:r>
          </a:p>
          <a:p>
            <a:pPr>
              <a:spcAft>
                <a:spcPts val="1800"/>
              </a:spcAft>
              <a:defRPr sz="1100">
                <a:solidFill>
                  <a:srgbClr val="282828"/>
                </a:solidFill>
                <a:latin typeface="Arial"/>
              </a:defRPr>
            </a:pPr>
            <a:r>
              <a:t>The L298N H-Bridge motor driver regulates battery current to four BO geared motors. Steering is achieved by varying the rotation of left and right wheels.</a:t>
            </a:r>
          </a:p>
        </p:txBody>
      </p:sp>
      <p:pic>
        <p:nvPicPr>
          <p:cNvPr id="8" name="Picture 7" descr="block_diagram.png"/>
          <p:cNvPicPr>
            <a:picLocks noChangeAspect="1"/>
          </p:cNvPicPr>
          <p:nvPr/>
        </p:nvPicPr>
        <p:blipFill>
          <a:blip r:embed="rId2"/>
          <a:stretch>
            <a:fillRect/>
          </a:stretch>
        </p:blipFill>
        <p:spPr>
          <a:xfrm>
            <a:off x="6217920" y="1645920"/>
            <a:ext cx="5029200" cy="402336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3. Arduino UNO &amp; Sensors</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4 of 11</a:t>
            </a:r>
          </a:p>
        </p:txBody>
      </p:sp>
      <p:sp>
        <p:nvSpPr>
          <p:cNvPr id="7" name="TextBox 6"/>
          <p:cNvSpPr txBox="1"/>
          <p:nvPr/>
        </p:nvSpPr>
        <p:spPr>
          <a:xfrm>
            <a:off x="914400" y="1645920"/>
            <a:ext cx="475488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Arduino UNO Development Board</a:t>
            </a:r>
          </a:p>
          <a:p>
            <a:pPr>
              <a:spcAft>
                <a:spcPts val="1800"/>
              </a:spcAft>
              <a:defRPr sz="1100">
                <a:solidFill>
                  <a:srgbClr val="282828"/>
                </a:solidFill>
                <a:latin typeface="Arial"/>
              </a:defRPr>
            </a:pPr>
            <a:r>
              <a:t>Based on the ATmega328P microcontroller running at 16 MHz. Features 14 digital I/O pins (6 PWM) and 6 analog inputs. Runs the control loop that processes inputs and regulates actuators.</a:t>
            </a:r>
          </a:p>
          <a:p>
            <a:pPr>
              <a:spcAft>
                <a:spcPts val="200"/>
              </a:spcAft>
              <a:defRPr sz="1300" b="1">
                <a:solidFill>
                  <a:srgbClr val="1A365D"/>
                </a:solidFill>
                <a:latin typeface="Arial"/>
              </a:defRPr>
            </a:pPr>
            <a:r>
              <a:t>HC-SR04 Ultrasonic Distance Sensor</a:t>
            </a:r>
          </a:p>
          <a:p>
            <a:pPr>
              <a:spcAft>
                <a:spcPts val="1800"/>
              </a:spcAft>
              <a:defRPr sz="1100">
                <a:solidFill>
                  <a:srgbClr val="282828"/>
                </a:solidFill>
                <a:latin typeface="Arial"/>
              </a:defRPr>
            </a:pPr>
            <a:r>
              <a:t>Measures target distance by transmitting 40 kHz acoustic waves. Ranging duration determines distance: d = (t * 0.034) / 2. Operates from 2 cm to 400 cm with a 3 mm accuracy.</a:t>
            </a:r>
          </a:p>
          <a:p>
            <a:pPr>
              <a:spcAft>
                <a:spcPts val="200"/>
              </a:spcAft>
              <a:defRPr sz="1300" b="1">
                <a:solidFill>
                  <a:srgbClr val="1A365D"/>
                </a:solidFill>
                <a:latin typeface="Arial"/>
              </a:defRPr>
            </a:pPr>
            <a:r>
              <a:t>Infrared Proximity Sensors</a:t>
            </a:r>
          </a:p>
          <a:p>
            <a:pPr>
              <a:spcAft>
                <a:spcPts val="1800"/>
              </a:spcAft>
              <a:defRPr sz="1100">
                <a:solidFill>
                  <a:srgbClr val="282828"/>
                </a:solidFill>
                <a:latin typeface="Arial"/>
              </a:defRPr>
            </a:pPr>
            <a:r>
              <a:t>Dual side-mounted sensors detect lateral offset. Emits IR light; reflections decrease receiver photodiode resistance, outputting LOW when target is detected within 8 cm.</a:t>
            </a:r>
          </a:p>
        </p:txBody>
      </p:sp>
      <p:pic>
        <p:nvPicPr>
          <p:cNvPr id="8" name="Picture 7" descr="comp2.jpeg"/>
          <p:cNvPicPr>
            <a:picLocks noChangeAspect="1"/>
          </p:cNvPicPr>
          <p:nvPr/>
        </p:nvPicPr>
        <p:blipFill>
          <a:blip r:embed="rId2"/>
          <a:stretch>
            <a:fillRect/>
          </a:stretch>
        </p:blipFill>
        <p:spPr>
          <a:xfrm>
            <a:off x="6217920" y="1645920"/>
            <a:ext cx="5029200" cy="402336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4. Actuators &amp; Motor Driver</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5 of 11</a:t>
            </a:r>
          </a:p>
        </p:txBody>
      </p:sp>
      <p:sp>
        <p:nvSpPr>
          <p:cNvPr id="7" name="TextBox 6"/>
          <p:cNvSpPr txBox="1"/>
          <p:nvPr/>
        </p:nvSpPr>
        <p:spPr>
          <a:xfrm>
            <a:off x="914400" y="1645920"/>
            <a:ext cx="475488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L298N H-Bridge Motor Driver Module</a:t>
            </a:r>
          </a:p>
          <a:p>
            <a:pPr>
              <a:spcAft>
                <a:spcPts val="1800"/>
              </a:spcAft>
              <a:defRPr sz="1100">
                <a:solidFill>
                  <a:srgbClr val="282828"/>
                </a:solidFill>
                <a:latin typeface="Arial"/>
              </a:defRPr>
            </a:pPr>
            <a:r>
              <a:t>Controls DC motor speed and direction using high-power transistors. Handles up to 2A per channel. Modulates average motor voltage via PWM signals on Enable pins (ENA, ENB).</a:t>
            </a:r>
          </a:p>
          <a:p>
            <a:pPr>
              <a:spcAft>
                <a:spcPts val="200"/>
              </a:spcAft>
              <a:defRPr sz="1300" b="1">
                <a:solidFill>
                  <a:srgbClr val="1A365D"/>
                </a:solidFill>
                <a:latin typeface="Arial"/>
              </a:defRPr>
            </a:pPr>
            <a:r>
              <a:t>Brushed DC BO Geared Motors</a:t>
            </a:r>
          </a:p>
          <a:p>
            <a:pPr>
              <a:spcAft>
                <a:spcPts val="1800"/>
              </a:spcAft>
              <a:defRPr sz="1100">
                <a:solidFill>
                  <a:srgbClr val="282828"/>
                </a:solidFill>
                <a:latin typeface="Arial"/>
              </a:defRPr>
            </a:pPr>
            <a:r>
              <a:t>Four battery-operated (BO) geared motors operating between 3V and 9V. Features a 1:48 gear reduction ratio, providing 150 RPM at 6V with high torque.</a:t>
            </a:r>
          </a:p>
          <a:p>
            <a:pPr>
              <a:spcAft>
                <a:spcPts val="200"/>
              </a:spcAft>
              <a:defRPr sz="1300" b="1">
                <a:solidFill>
                  <a:srgbClr val="1A365D"/>
                </a:solidFill>
                <a:latin typeface="Arial"/>
              </a:defRPr>
            </a:pPr>
            <a:r>
              <a:t>4WD Kinematics &amp; Steering Control</a:t>
            </a:r>
          </a:p>
          <a:p>
            <a:pPr>
              <a:spcAft>
                <a:spcPts val="1800"/>
              </a:spcAft>
              <a:defRPr sz="1100">
                <a:solidFill>
                  <a:srgbClr val="282828"/>
                </a:solidFill>
                <a:latin typeface="Arial"/>
              </a:defRPr>
            </a:pPr>
            <a:r>
              <a:t>The motors are wired in parallel left and right pairs. Steering is achieved by differential speed: forward drive, reverse drive, and pivoting turns.</a:t>
            </a:r>
          </a:p>
        </p:txBody>
      </p:sp>
      <p:pic>
        <p:nvPicPr>
          <p:cNvPr id="8" name="Picture 7" descr="comp4.jpeg"/>
          <p:cNvPicPr>
            <a:picLocks noChangeAspect="1"/>
          </p:cNvPicPr>
          <p:nvPr/>
        </p:nvPicPr>
        <p:blipFill>
          <a:blip r:embed="rId2"/>
          <a:stretch>
            <a:fillRect/>
          </a:stretch>
        </p:blipFill>
        <p:spPr>
          <a:xfrm>
            <a:off x="6217920" y="1645920"/>
            <a:ext cx="5029200" cy="40233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5. Power Scheme &amp; System Stability</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6 of 11</a:t>
            </a:r>
          </a:p>
        </p:txBody>
      </p:sp>
      <p:sp>
        <p:nvSpPr>
          <p:cNvPr id="7" name="TextBox 6"/>
          <p:cNvSpPr txBox="1"/>
          <p:nvPr/>
        </p:nvSpPr>
        <p:spPr>
          <a:xfrm>
            <a:off x="914400" y="1645920"/>
            <a:ext cx="1033272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Power Isolation &amp; Split Rail Scheme</a:t>
            </a:r>
          </a:p>
          <a:p>
            <a:pPr>
              <a:spcAft>
                <a:spcPts val="1600"/>
              </a:spcAft>
              <a:defRPr sz="1100">
                <a:solidFill>
                  <a:srgbClr val="282828"/>
                </a:solidFill>
                <a:latin typeface="Arial"/>
              </a:defRPr>
            </a:pPr>
            <a:r>
              <a:t>DC motors draw high starting currents, which drop the battery voltage and cause microcontroller resets. To prevent this, the power rails are separated. The 7.4V battery pack connects directly to the L298N driver, while the driver's onboard 5V regulator steps it down to power the Arduino UNO.</a:t>
            </a:r>
          </a:p>
          <a:p>
            <a:pPr>
              <a:spcAft>
                <a:spcPts val="200"/>
              </a:spcAft>
              <a:defRPr sz="1300" b="1">
                <a:solidFill>
                  <a:srgbClr val="1A365D"/>
                </a:solidFill>
                <a:latin typeface="Arial"/>
              </a:defRPr>
            </a:pPr>
            <a:r>
              <a:t>Microcontroller Resets and Brownouts</a:t>
            </a:r>
          </a:p>
          <a:p>
            <a:pPr>
              <a:spcAft>
                <a:spcPts val="1600"/>
              </a:spcAft>
              <a:defRPr sz="1100">
                <a:solidFill>
                  <a:srgbClr val="282828"/>
                </a:solidFill>
                <a:latin typeface="Arial"/>
              </a:defRPr>
            </a:pPr>
            <a:r>
              <a:t>Initial prototype builds included a 0.96-inch SSD1306 OLED display and an SG90 micro servo motor. During active scans, the servo's high current load caused significant voltage drops (brownouts) on the 5V line, resetting the microcontroller and introducing sensor noise.</a:t>
            </a:r>
          </a:p>
          <a:p>
            <a:pPr>
              <a:spcAft>
                <a:spcPts val="200"/>
              </a:spcAft>
              <a:defRPr sz="1300" b="1">
                <a:solidFill>
                  <a:srgbClr val="1A365D"/>
                </a:solidFill>
                <a:latin typeface="Arial"/>
              </a:defRPr>
            </a:pPr>
            <a:r>
              <a:t>Stability Resolution</a:t>
            </a:r>
          </a:p>
          <a:p>
            <a:pPr>
              <a:spcAft>
                <a:spcPts val="1600"/>
              </a:spcAft>
              <a:defRPr sz="1100">
                <a:solidFill>
                  <a:srgbClr val="282828"/>
                </a:solidFill>
                <a:latin typeface="Arial"/>
              </a:defRPr>
            </a:pPr>
            <a:r>
              <a:t>To ensure stable, reliable operation on a single battery power source, the OLED display and servo motor were excluded from the final deployed prototype. The grounds of the battery, Arduino, and motor driver are connected to establish a shared reference.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6. Software Control Algorithms</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7 of 11</a:t>
            </a:r>
          </a:p>
        </p:txBody>
      </p:sp>
      <p:sp>
        <p:nvSpPr>
          <p:cNvPr id="7" name="TextBox 6"/>
          <p:cNvSpPr txBox="1"/>
          <p:nvPr/>
        </p:nvSpPr>
        <p:spPr>
          <a:xfrm>
            <a:off x="914400" y="1645920"/>
            <a:ext cx="475488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Arduino Control Framework</a:t>
            </a:r>
          </a:p>
          <a:p>
            <a:pPr>
              <a:spcAft>
                <a:spcPts val="1800"/>
              </a:spcAft>
              <a:defRPr sz="1100">
                <a:solidFill>
                  <a:srgbClr val="282828"/>
                </a:solidFill>
                <a:latin typeface="Arial"/>
              </a:defRPr>
            </a:pPr>
            <a:r>
              <a:t>Written in C++ using the Arduino IDE 2.x. Standard input/output pins are polled to drive state machine transitions. Incorporates the NewPing library for non-blocking acoustic ranging.</a:t>
            </a:r>
          </a:p>
          <a:p>
            <a:pPr>
              <a:spcAft>
                <a:spcPts val="200"/>
              </a:spcAft>
              <a:defRPr sz="1300" b="1">
                <a:solidFill>
                  <a:srgbClr val="1A365D"/>
                </a:solidFill>
                <a:latin typeface="Arial"/>
              </a:defRPr>
            </a:pPr>
            <a:r>
              <a:t>Closed-Loop State Transitions</a:t>
            </a:r>
          </a:p>
          <a:p>
            <a:pPr>
              <a:spcAft>
                <a:spcPts val="1800"/>
              </a:spcAft>
              <a:defRPr sz="1100">
                <a:solidFill>
                  <a:srgbClr val="282828"/>
                </a:solidFill>
                <a:latin typeface="Arial"/>
              </a:defRPr>
            </a:pPr>
            <a:r>
              <a:t>Continually processes distance and lateral IR states. Triggers direction codes: Forward, Steer Left, Steer Right, Safe Recovery, and Search.</a:t>
            </a:r>
          </a:p>
          <a:p>
            <a:pPr>
              <a:spcAft>
                <a:spcPts val="200"/>
              </a:spcAft>
              <a:defRPr sz="1300" b="1">
                <a:solidFill>
                  <a:srgbClr val="1A365D"/>
                </a:solidFill>
                <a:latin typeface="Arial"/>
              </a:defRPr>
            </a:pPr>
            <a:r>
              <a:t>Calibration Limits &amp; Speed Control</a:t>
            </a:r>
          </a:p>
          <a:p>
            <a:pPr>
              <a:spcAft>
                <a:spcPts val="1800"/>
              </a:spcAft>
              <a:defRPr sz="1100">
                <a:solidFill>
                  <a:srgbClr val="282828"/>
                </a:solidFill>
                <a:latin typeface="Arial"/>
              </a:defRPr>
            </a:pPr>
            <a:r>
              <a:t>Maintains a safe follow envelope between 10 cm and 35 cm. Modulates motor PWM (170/220) dynamically based on distance to adjust speed.</a:t>
            </a:r>
          </a:p>
        </p:txBody>
      </p:sp>
      <p:pic>
        <p:nvPicPr>
          <p:cNvPr id="8" name="Picture 7" descr="img2.jpeg"/>
          <p:cNvPicPr>
            <a:picLocks noChangeAspect="1"/>
          </p:cNvPicPr>
          <p:nvPr/>
        </p:nvPicPr>
        <p:blipFill>
          <a:blip r:embed="rId2"/>
          <a:stretch>
            <a:fillRect/>
          </a:stretch>
        </p:blipFill>
        <p:spPr>
          <a:xfrm>
            <a:off x="6217920" y="1645920"/>
            <a:ext cx="5029200" cy="402336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7. Control Firmware Source Code</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8 of 11</a:t>
            </a:r>
          </a:p>
        </p:txBody>
      </p:sp>
      <p:sp>
        <p:nvSpPr>
          <p:cNvPr id="7" name="TextBox 6"/>
          <p:cNvSpPr txBox="1"/>
          <p:nvPr/>
        </p:nvSpPr>
        <p:spPr>
          <a:xfrm>
            <a:off x="914400" y="1645920"/>
            <a:ext cx="4389120" cy="4114800"/>
          </a:xfrm>
          <a:prstGeom prst="rect">
            <a:avLst/>
          </a:prstGeom>
          <a:noFill/>
        </p:spPr>
        <p:txBody>
          <a:bodyPr wrap="square" lIns="0" rIns="0" tIns="0" bIns="0">
            <a:spAutoFit/>
          </a:bodyPr>
          <a:lstStyle/>
          <a:p>
            <a:pPr>
              <a:spcAft>
                <a:spcPts val="200"/>
              </a:spcAft>
              <a:defRPr sz="1250" b="1">
                <a:solidFill>
                  <a:srgbClr val="1A365D"/>
                </a:solidFill>
                <a:latin typeface="Arial"/>
              </a:defRPr>
            </a:pPr>
            <a:r>
              <a:t>Core loop() Structure</a:t>
            </a:r>
          </a:p>
          <a:p>
            <a:pPr>
              <a:spcAft>
                <a:spcPts val="2000"/>
              </a:spcAft>
              <a:defRPr sz="1050">
                <a:solidFill>
                  <a:srgbClr val="282828"/>
                </a:solidFill>
                <a:latin typeface="Arial"/>
              </a:defRPr>
            </a:pPr>
            <a:r>
              <a:t>The main loop reads ultrasonic distance and flank IR sensors to trigger appropriate motor actions.</a:t>
            </a:r>
          </a:p>
          <a:p>
            <a:pPr>
              <a:spcAft>
                <a:spcPts val="200"/>
              </a:spcAft>
              <a:defRPr sz="1250" b="1">
                <a:solidFill>
                  <a:srgbClr val="1A365D"/>
                </a:solidFill>
                <a:latin typeface="Arial"/>
              </a:defRPr>
            </a:pPr>
            <a:r>
              <a:t>Safety Backup and Turn</a:t>
            </a:r>
          </a:p>
          <a:p>
            <a:pPr>
              <a:spcAft>
                <a:spcPts val="2000"/>
              </a:spcAft>
              <a:defRPr sz="1050">
                <a:solidFill>
                  <a:srgbClr val="282828"/>
                </a:solidFill>
                <a:latin typeface="Arial"/>
              </a:defRPr>
            </a:pPr>
            <a:r>
              <a:t>If target is detected closer than 10 cm, the loop halts, reverses, turns right, and halts again to safely recover distance.</a:t>
            </a:r>
          </a:p>
          <a:p>
            <a:pPr>
              <a:spcAft>
                <a:spcPts val="200"/>
              </a:spcAft>
              <a:defRPr sz="1250" b="1">
                <a:solidFill>
                  <a:srgbClr val="1A365D"/>
                </a:solidFill>
                <a:latin typeface="Arial"/>
              </a:defRPr>
            </a:pPr>
            <a:r>
              <a:t>Target Searching</a:t>
            </a:r>
          </a:p>
          <a:p>
            <a:pPr>
              <a:spcAft>
                <a:spcPts val="2000"/>
              </a:spcAft>
              <a:defRPr sz="1050">
                <a:solidFill>
                  <a:srgbClr val="282828"/>
                </a:solidFill>
                <a:latin typeface="Arial"/>
              </a:defRPr>
            </a:pPr>
            <a:r>
              <a:t>If target is lost or exceeds 35 cm, the robot pivots right to scan the surrounding area.</a:t>
            </a:r>
          </a:p>
        </p:txBody>
      </p:sp>
      <p:sp>
        <p:nvSpPr>
          <p:cNvPr id="8" name="Rectangle 7"/>
          <p:cNvSpPr/>
          <p:nvPr/>
        </p:nvSpPr>
        <p:spPr>
          <a:xfrm>
            <a:off x="5669280" y="1645920"/>
            <a:ext cx="5760720" cy="4114800"/>
          </a:xfrm>
          <a:prstGeom prst="rect">
            <a:avLst/>
          </a:prstGeom>
          <a:solidFill>
            <a:srgbClr val="F5F5F5"/>
          </a:solidFill>
          <a:ln w="12700">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137160" bIns="137160"/>
          <a:lstStyle/>
          <a:p>
            <a:pPr algn="ctr">
              <a:defRPr sz="850">
                <a:solidFill>
                  <a:srgbClr val="282828"/>
                </a:solidFill>
                <a:latin typeface="Consolas"/>
              </a:defRPr>
            </a:pPr>
            <a:r>
              <a:t>void loop() {</a:t>
            </a:r>
            <a:br/>
            <a:r>
              <a:t>  int distance = sonar.ping_cm();</a:t>
            </a:r>
            <a:br/>
            <a:r>
              <a:t>  if (distance == 0) distance = 200;</a:t>
            </a:r>
            <a:br/>
            <a:r>
              <a:t>  int rightIR = digitalRead(RIGHT_IR);</a:t>
            </a:r>
            <a:br/>
            <a:r>
              <a:t>  int leftIR  = digitalRead(LEFT_IR);</a:t>
            </a:r>
            <a:br/>
            <a:r>
              <a:t>  analogWrite(ENA, (distance &gt; 25) ? 220 : 170);</a:t>
            </a:r>
            <a:br/>
            <a:r>
              <a:t>  analogWrite(ENB, (distance &gt; 25) ? 220 : 170);</a:t>
            </a:r>
            <a:br/>
            <a:br/>
            <a:r>
              <a:t>  if (distance &lt; MIN_DISTANCE) { // Safety Stop &amp; Backup</a:t>
            </a:r>
            <a:br/>
            <a:r>
              <a:t>    setMotors('S'); delay(300);</a:t>
            </a:r>
            <a:br/>
            <a:r>
              <a:t>    setMotors('B'); delay(400);</a:t>
            </a:r>
            <a:br/>
            <a:r>
              <a:t>    setMotors('S'); delay(200);</a:t>
            </a:r>
            <a:br/>
            <a:r>
              <a:t>    setMotors('R'); delay(300);</a:t>
            </a:r>
            <a:br/>
            <a:r>
              <a:t>    setMotors('S'); return;</a:t>
            </a:r>
            <a:br/>
            <a:r>
              <a:t>  }</a:t>
            </a:r>
            <a:br/>
            <a:r>
              <a:t>  if (rightIR == LOW &amp;&amp; leftIR == HIGH) setMotors('R');</a:t>
            </a:r>
            <a:br/>
            <a:r>
              <a:t>  else if (rightIR == HIGH &amp;&amp; leftIR == LOW) setMotors('L');</a:t>
            </a:r>
            <a:br/>
            <a:r>
              <a:t>  else if (distance &lt;= FOLLOW_DISTANCE) setMotors('F');</a:t>
            </a:r>
            <a:br/>
            <a:r>
              <a:t>  else setMotors('R'); // Search Mode</a:t>
            </a: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8. Calibration &amp; Experimental Results</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9 of 11</a:t>
            </a:r>
          </a:p>
        </p:txBody>
      </p:sp>
      <p:sp>
        <p:nvSpPr>
          <p:cNvPr id="7" name="TextBox 6"/>
          <p:cNvSpPr txBox="1"/>
          <p:nvPr/>
        </p:nvSpPr>
        <p:spPr>
          <a:xfrm>
            <a:off x="914400" y="1645920"/>
            <a:ext cx="475488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Sensor Threshold Configurations</a:t>
            </a:r>
          </a:p>
          <a:p>
            <a:pPr>
              <a:spcAft>
                <a:spcPts val="1800"/>
              </a:spcAft>
              <a:defRPr sz="1100">
                <a:solidFill>
                  <a:srgbClr val="282828"/>
                </a:solidFill>
                <a:latin typeface="Arial"/>
              </a:defRPr>
            </a:pPr>
            <a:r>
              <a:t>IR sensors are adjusted using onboard potentiometers to ignore ambient lighting and trigger reliably at a maximum distance of 8 cm.</a:t>
            </a:r>
          </a:p>
          <a:p>
            <a:pPr>
              <a:spcAft>
                <a:spcPts val="200"/>
              </a:spcAft>
              <a:defRPr sz="1300" b="1">
                <a:solidFill>
                  <a:srgbClr val="1A365D"/>
                </a:solidFill>
                <a:latin typeface="Arial"/>
              </a:defRPr>
            </a:pPr>
            <a:r>
              <a:t>Command State Calibration Mapping</a:t>
            </a:r>
          </a:p>
          <a:p>
            <a:pPr>
              <a:spcAft>
                <a:spcPts val="1800"/>
              </a:spcAft>
              <a:defRPr sz="1100">
                <a:solidFill>
                  <a:srgbClr val="282828"/>
                </a:solidFill>
                <a:latin typeface="Arial"/>
              </a:defRPr>
            </a:pPr>
            <a:r>
              <a:t>Calibration trials established solid tracking zones: </a:t>
            </a:r>
            <a:br/>
            <a:r>
              <a:t>- Under 10 cm: Safety Backup &amp; Turn</a:t>
            </a:r>
            <a:br/>
            <a:r>
              <a:t>- 10 cm to 35 cm: Drive Forward</a:t>
            </a:r>
            <a:br/>
            <a:r>
              <a:t>- Over 35 cm: Target lost, enter Search pivot</a:t>
            </a:r>
          </a:p>
          <a:p>
            <a:pPr>
              <a:spcAft>
                <a:spcPts val="200"/>
              </a:spcAft>
              <a:defRPr sz="1300" b="1">
                <a:solidFill>
                  <a:srgbClr val="1A365D"/>
                </a:solidFill>
                <a:latin typeface="Arial"/>
              </a:defRPr>
            </a:pPr>
            <a:r>
              <a:t>Physical Platform Integration</a:t>
            </a:r>
          </a:p>
          <a:p>
            <a:pPr>
              <a:spcAft>
                <a:spcPts val="1800"/>
              </a:spcAft>
              <a:defRPr sz="1100">
                <a:solidFill>
                  <a:srgbClr val="282828"/>
                </a:solidFill>
                <a:latin typeface="Arial"/>
              </a:defRPr>
            </a:pPr>
            <a:r>
              <a:t>All modules are integrated onto a 4-wheel acrylic chassis. Common grounding resolves electrical noise and signal fluctuations.</a:t>
            </a:r>
          </a:p>
        </p:txBody>
      </p:sp>
      <p:pic>
        <p:nvPicPr>
          <p:cNvPr id="8" name="Picture 7" descr="img1.jpeg"/>
          <p:cNvPicPr>
            <a:picLocks noChangeAspect="1"/>
          </p:cNvPicPr>
          <p:nvPr/>
        </p:nvPicPr>
        <p:blipFill>
          <a:blip r:embed="rId2"/>
          <a:stretch>
            <a:fillRect/>
          </a:stretch>
        </p:blipFill>
        <p:spPr>
          <a:xfrm>
            <a:off x="6217920" y="1645920"/>
            <a:ext cx="5029200" cy="402336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9. Performance Testing &amp; Evaluation</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10 of 11</a:t>
            </a:r>
          </a:p>
        </p:txBody>
      </p:sp>
      <p:sp>
        <p:nvSpPr>
          <p:cNvPr id="7" name="TextBox 6"/>
          <p:cNvSpPr txBox="1"/>
          <p:nvPr/>
        </p:nvSpPr>
        <p:spPr>
          <a:xfrm>
            <a:off x="914400" y="1645920"/>
            <a:ext cx="475488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Tracking Reliability</a:t>
            </a:r>
          </a:p>
          <a:p>
            <a:pPr>
              <a:spcAft>
                <a:spcPts val="1800"/>
              </a:spcAft>
              <a:defRPr sz="1100">
                <a:solidFill>
                  <a:srgbClr val="282828"/>
                </a:solidFill>
                <a:latin typeface="Arial"/>
              </a:defRPr>
            </a:pPr>
            <a:r>
              <a:t>Maintains a safe tracking boundary. Follows leading targets reliably between 10 cm and 35 cm without manual input.</a:t>
            </a:r>
          </a:p>
          <a:p>
            <a:pPr>
              <a:spcAft>
                <a:spcPts val="200"/>
              </a:spcAft>
              <a:defRPr sz="1300" b="1">
                <a:solidFill>
                  <a:srgbClr val="1A365D"/>
                </a:solidFill>
                <a:latin typeface="Arial"/>
              </a:defRPr>
            </a:pPr>
            <a:r>
              <a:t>Ranging &amp; Latency Metrics</a:t>
            </a:r>
          </a:p>
          <a:p>
            <a:pPr>
              <a:spcAft>
                <a:spcPts val="1800"/>
              </a:spcAft>
              <a:defRPr sz="1100">
                <a:solidFill>
                  <a:srgbClr val="282828"/>
                </a:solidFill>
                <a:latin typeface="Arial"/>
              </a:defRPr>
            </a:pPr>
            <a:r>
              <a:t>Ultrasonic sensor achieves accurate ranging with a variance of $\pm$0.5 cm. Low control loop latency (10 ms) enables real-time response to target speed shifts.</a:t>
            </a:r>
          </a:p>
          <a:p>
            <a:pPr>
              <a:spcAft>
                <a:spcPts val="200"/>
              </a:spcAft>
              <a:defRPr sz="1300" b="1">
                <a:solidFill>
                  <a:srgbClr val="1A365D"/>
                </a:solidFill>
                <a:latin typeface="Arial"/>
              </a:defRPr>
            </a:pPr>
            <a:r>
              <a:t>Power Runtime Capacity</a:t>
            </a:r>
          </a:p>
          <a:p>
            <a:pPr>
              <a:spcAft>
                <a:spcPts val="1800"/>
              </a:spcAft>
              <a:defRPr sz="1100">
                <a:solidFill>
                  <a:srgbClr val="282828"/>
                </a:solidFill>
                <a:latin typeface="Arial"/>
              </a:defRPr>
            </a:pPr>
            <a:r>
              <a:t>Dual 18650 cells in series supply stable current for 50 minutes of continuous run time under full motor loads.</a:t>
            </a:r>
          </a:p>
        </p:txBody>
      </p:sp>
      <p:pic>
        <p:nvPicPr>
          <p:cNvPr id="8" name="Picture 7" descr="img3.jpeg"/>
          <p:cNvPicPr>
            <a:picLocks noChangeAspect="1"/>
          </p:cNvPicPr>
          <p:nvPr/>
        </p:nvPicPr>
        <p:blipFill>
          <a:blip r:embed="rId2"/>
          <a:stretch>
            <a:fillRect/>
          </a:stretch>
        </p:blipFill>
        <p:spPr>
          <a:xfrm>
            <a:off x="6217920" y="1645920"/>
            <a:ext cx="5029200" cy="402336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365760"/>
            <a:ext cx="10725912" cy="731520"/>
          </a:xfrm>
          <a:prstGeom prst="rect">
            <a:avLst/>
          </a:prstGeom>
          <a:noFill/>
        </p:spPr>
        <p:txBody>
          <a:bodyPr wrap="square" lIns="0" rIns="0" tIns="0" bIns="0">
            <a:spAutoFit/>
          </a:bodyPr>
          <a:lstStyle/>
          <a:p>
            <a:pPr>
              <a:defRPr sz="2400" b="1">
                <a:solidFill>
                  <a:srgbClr val="1A365D"/>
                </a:solidFill>
                <a:latin typeface="Arial"/>
              </a:defRPr>
            </a:pPr>
            <a:r>
              <a:t>10. Conclusions &amp; Future Scope</a:t>
            </a:r>
          </a:p>
        </p:txBody>
      </p:sp>
      <p:sp>
        <p:nvSpPr>
          <p:cNvPr id="3" name="Rectangle 2"/>
          <p:cNvSpPr/>
          <p:nvPr/>
        </p:nvSpPr>
        <p:spPr>
          <a:xfrm>
            <a:off x="731520" y="1097280"/>
            <a:ext cx="10725912" cy="13716"/>
          </a:xfrm>
          <a:prstGeom prst="rect">
            <a:avLst/>
          </a:prstGeom>
          <a:solidFill>
            <a:srgbClr val="1A365D"/>
          </a:solidFill>
          <a:ln>
            <a:solidFill>
              <a:srgbClr val="1A365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126480"/>
            <a:ext cx="10725912" cy="9144"/>
          </a:xfrm>
          <a:prstGeom prst="rect">
            <a:avLst/>
          </a:prstGeom>
          <a:solidFill>
            <a:srgbClr val="DCDCDC"/>
          </a:solidFill>
          <a:ln>
            <a:solidFill>
              <a:srgbClr val="DCDCD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6217920"/>
            <a:ext cx="8229600" cy="365760"/>
          </a:xfrm>
          <a:prstGeom prst="rect">
            <a:avLst/>
          </a:prstGeom>
          <a:noFill/>
        </p:spPr>
        <p:txBody>
          <a:bodyPr wrap="square" lIns="0" rIns="0" tIns="0" bIns="0">
            <a:spAutoFit/>
          </a:bodyPr>
          <a:lstStyle/>
          <a:p>
            <a:pPr>
              <a:defRPr sz="850" b="1">
                <a:solidFill>
                  <a:srgbClr val="646E78"/>
                </a:solidFill>
                <a:latin typeface="Arial"/>
              </a:defRPr>
            </a:pPr>
            <a:r>
              <a:t>OBJECT FOLLOWING ROBOT USING ARDUINO UNO  |  MINI-PROJECT PRESENTATION</a:t>
            </a:r>
          </a:p>
        </p:txBody>
      </p:sp>
      <p:sp>
        <p:nvSpPr>
          <p:cNvPr id="6" name="TextBox 5"/>
          <p:cNvSpPr txBox="1"/>
          <p:nvPr/>
        </p:nvSpPr>
        <p:spPr>
          <a:xfrm>
            <a:off x="10058400" y="6217920"/>
            <a:ext cx="1399032" cy="365760"/>
          </a:xfrm>
          <a:prstGeom prst="rect">
            <a:avLst/>
          </a:prstGeom>
          <a:noFill/>
        </p:spPr>
        <p:txBody>
          <a:bodyPr wrap="square" lIns="0" rIns="0" tIns="0" bIns="0">
            <a:spAutoFit/>
          </a:bodyPr>
          <a:lstStyle/>
          <a:p>
            <a:pPr algn="r">
              <a:defRPr sz="850" b="1">
                <a:solidFill>
                  <a:srgbClr val="646E78"/>
                </a:solidFill>
                <a:latin typeface="Arial"/>
              </a:defRPr>
            </a:pPr>
            <a:r>
              <a:t>Slide 11 of 11</a:t>
            </a:r>
          </a:p>
        </p:txBody>
      </p:sp>
      <p:sp>
        <p:nvSpPr>
          <p:cNvPr id="7" name="TextBox 6"/>
          <p:cNvSpPr txBox="1"/>
          <p:nvPr/>
        </p:nvSpPr>
        <p:spPr>
          <a:xfrm>
            <a:off x="914400" y="1645920"/>
            <a:ext cx="10332720" cy="4114800"/>
          </a:xfrm>
          <a:prstGeom prst="rect">
            <a:avLst/>
          </a:prstGeom>
          <a:noFill/>
        </p:spPr>
        <p:txBody>
          <a:bodyPr wrap="square" lIns="0" rIns="0" tIns="0" bIns="0">
            <a:spAutoFit/>
          </a:bodyPr>
          <a:lstStyle/>
          <a:p>
            <a:pPr>
              <a:spcAft>
                <a:spcPts val="200"/>
              </a:spcAft>
              <a:defRPr sz="1300" b="1">
                <a:solidFill>
                  <a:srgbClr val="1A365D"/>
                </a:solidFill>
                <a:latin typeface="Arial"/>
              </a:defRPr>
            </a:pPr>
            <a:r>
              <a:t>Successful System Realization</a:t>
            </a:r>
          </a:p>
          <a:p>
            <a:pPr>
              <a:spcAft>
                <a:spcPts val="1600"/>
              </a:spcAft>
              <a:defRPr sz="1100">
                <a:solidFill>
                  <a:srgbClr val="282828"/>
                </a:solidFill>
                <a:latin typeface="Arial"/>
              </a:defRPr>
            </a:pPr>
            <a:r>
              <a:t>Successfully built a low-cost, low-power autonomous Object Following Robot using the Arduino UNO microcontroller. The multi-sensor scheme tracks target objects or human subjects in real-time.</a:t>
            </a:r>
          </a:p>
          <a:p>
            <a:pPr>
              <a:spcAft>
                <a:spcPts val="200"/>
              </a:spcAft>
              <a:defRPr sz="1300" b="1">
                <a:solidFill>
                  <a:srgbClr val="1A365D"/>
                </a:solidFill>
                <a:latin typeface="Arial"/>
              </a:defRPr>
            </a:pPr>
            <a:r>
              <a:t>Cost-Effective Tracking</a:t>
            </a:r>
          </a:p>
          <a:p>
            <a:pPr>
              <a:spcAft>
                <a:spcPts val="1600"/>
              </a:spcAft>
              <a:defRPr sz="1100">
                <a:solidFill>
                  <a:srgbClr val="282828"/>
                </a:solidFill>
                <a:latin typeface="Arial"/>
              </a:defRPr>
            </a:pPr>
            <a:r>
              <a:t>Showed that combining acoustic and infrared sensors provides a reliable tracking envelope, avoiding expensive and power-hungry computer vision processing boards.</a:t>
            </a:r>
          </a:p>
          <a:p>
            <a:pPr>
              <a:spcAft>
                <a:spcPts val="200"/>
              </a:spcAft>
              <a:defRPr sz="1300" b="1">
                <a:solidFill>
                  <a:srgbClr val="1A365D"/>
                </a:solidFill>
                <a:latin typeface="Arial"/>
              </a:defRPr>
            </a:pPr>
            <a:r>
              <a:t>Future Work &amp; Enhancements</a:t>
            </a:r>
          </a:p>
          <a:p>
            <a:pPr>
              <a:spcAft>
                <a:spcPts val="1600"/>
              </a:spcAft>
              <a:defRPr sz="1100">
                <a:solidFill>
                  <a:srgbClr val="282828"/>
                </a:solidFill>
                <a:latin typeface="Arial"/>
              </a:defRPr>
            </a:pPr>
            <a:r>
              <a:t>Planned expansions to enhance capabilities and resolve current prototype limitations:</a:t>
            </a:r>
            <a:br/>
            <a:r>
              <a:t>- Re-integrating the servo motor and OLED screen by adding an LM2596 buck converter to isolate electrical loads and prevent resets.</a:t>
            </a:r>
            <a:br/>
            <a:r>
              <a:t>- Upgrading the microcontroller to an ESP32 with an onboard camera (ESP32-CAM) for human recognition.</a:t>
            </a:r>
            <a:br/>
            <a:r>
              <a:t>- Implementing a PID control loop for smoother motor acceleration and deceleration curves.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